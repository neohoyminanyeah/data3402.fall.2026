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7" r:id="rId18"/>
    <p:sldId id="268" r:id="rId19"/>
    <p:sldId id="269" r:id="rId2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  <Relationship Id="rId18" Type="http://schemas.openxmlformats.org/officeDocument/2006/relationships/slide" Target="slides/slide12.xml"/>
  <Relationship Id="rId19" Type="http://schemas.openxmlformats.org/officeDocument/2006/relationships/slide" Target="slides/slide13.xml"/>
  <Relationship Id="rId20" Type="http://schemas.openxmlformats.org/officeDocument/2006/relationships/slide" Target="slides/slide14.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pointing at the shirt. This is the compact four-line CERN version: forces on top, how they act on quarks and leptons, then the Higgs and mass. The sprawling version you sometimes see is Veltman's formulation typed out by Tom Gutierrez.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the word model all term: a histogram models a distribution, your generators produce data from a model. This is a third kind, a theoretical model. Observe, encode it as mathematics, turn the crank to predict, compare. Aside: in practice every theory is an effective theory (renormalization group), but it is meant to encapsulate what we understand reality to be.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shirt is sold at the CERN shop. It is the whole Standard Model in its most compact notation. The Lagrangian is the input to a general machine: put it in, get equations of motion, conservation laws, rates and probabilities out. Classical: the stationary-action path. Quantum: sum over all paths gives probabilities. Works for classical gravity too; quantum gravity is where this formulation breaks.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arms converge. Relativity and electromagnetism meet because the field has to propagate at the speed limit. Quantum mechanics is the third ingredient. QFT is the grammar the shirt is written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at this stage the theory is almost empty. Fields that move. No forces yet, no mass yet. Everything else is going to be forced on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punchline of the slide is the gold line. Charge in, same charge out. The compensating field for U(1) is the photon. Repeat for the other two groups and the whole force content of nature falls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This is the tension that motivates the Higgs. The symmetry is too good to give up, and mass is too obvious to ignore.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ball-in-the-valley picture: the potential has its minimum away from zero, so the field had to pick a spot. Everything downstream - particle masses, generation mixing - comes from how strongly each field sticks to that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shirt left to right, naming each block. They should be able to point at a line and say what it does. Then: what isn't printed is the numbers.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it back to their lab: accept-reject is the sampling step. In the notebook we use a normal distribution and Box-Muller, which is faster for that one. The four_vector class keeps the boost code sane.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shirt. Then straight into the four-vector code and the generator.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 assumes massless neutrinos, as the original Standard Model does; neutrino masses add a few more. In data-science terms: the Lagrangian is the model, these are its fitted parameters.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Arguably the most successful theory ever written down, and also clearly incomplete: dark matter, dark energy, gravity. Come back to the dark stuff later in the term.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 and paper gets you the rest-frame answer; a spread of Higgs momenta and a real detector need simulation. Discovered 2012; 2013 Nobel to Higgs and Englert. This is the question the rest of the lecture answers.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9"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31"/>
        </a:solidFill>
      </p:bgPr>
    </p:bg>
    <p:spTree>
      <p:nvGrpSpPr>
        <p:cNvPr id="1" name=""/>
        <p:cNvGrpSpPr/>
        <p:nvPr/>
      </p:nvGrpSpPr>
      <p:grpSpPr>
        <a:xfrm>
          <a:off x="0" y="0"/>
          <a:ext cx="0" cy="0"/>
          <a:chOff x="0" y="0"/>
          <a:chExt cx="0" cy="0"/>
        </a:xfrm>
      </p:grpSpPr>
      <p:sp>
        <p:nvSpPr>
          <p:cNvPr id="2" name="Shape 0"/>
          <p:cNvSpPr/>
          <p:nvPr/>
        </p:nvSpPr>
        <p:spPr>
          <a:xfrm>
            <a:off x="8732520" y="1600200"/>
            <a:ext cx="2743200" cy="2743200"/>
          </a:xfrm>
          <a:prstGeom prst="ellipse">
            <a:avLst/>
          </a:prstGeom>
          <a:solidFill>
            <a:srgbClr val="1A2450"/>
          </a:solidFill>
          <a:ln w="12700">
            <a:solidFill>
              <a:srgbClr val="212C5C"/>
            </a:solidFill>
            <a:prstDash val="solid"/>
          </a:ln>
        </p:spPr>
      </p:sp>
      <p:sp>
        <p:nvSpPr>
          <p:cNvPr id="3" name="Text 1"/>
          <p:cNvSpPr txBox="1"/>
          <p:nvPr/>
        </p:nvSpPr>
        <p:spPr>
          <a:xfrm>
            <a:off x="8732520" y="1600200"/>
            <a:ext cx="2743200" cy="2743200"/>
          </a:xfrm>
          <a:prstGeom prst="rect">
            <a:avLst/>
          </a:prstGeom>
          <a:noFill/>
          <a:ln/>
        </p:spPr>
        <p:txBody>
          <a:bodyPr wrap="square" lIns="0" tIns="0" rIns="0" bIns="0" rtlCol="0" anchor="ctr"/>
          <a:lstStyle/>
          <a:p>
            <a:pPr algn="ctr" indent="0" marL="0">
              <a:buNone/>
            </a:pPr>
            <a:r>
              <a:rPr lang="en-US" sz="13000" b="1" dirty="0">
                <a:solidFill>
                  <a:srgbClr val="F2B134"/>
                </a:solidFill>
                <a:latin typeface="Cambria" pitchFamily="34" charset="0"/>
                <a:ea typeface="Cambria" pitchFamily="34" charset="-122"/>
                <a:cs typeface="Cambria" pitchFamily="34" charset="-120"/>
              </a:rPr>
              <a:t>ℒ</a:t>
            </a:r>
            <a:endParaRPr lang="en-US" sz="13000" dirty="0"/>
          </a:p>
        </p:txBody>
      </p:sp>
      <p:sp>
        <p:nvSpPr>
          <p:cNvPr id="4" name="Text 2"/>
          <p:cNvSpPr txBox="1"/>
          <p:nvPr/>
        </p:nvSpPr>
        <p:spPr>
          <a:xfrm>
            <a:off x="822960" y="1691640"/>
            <a:ext cx="7315200" cy="274320"/>
          </a:xfrm>
          <a:prstGeom prst="rect">
            <a:avLst/>
          </a:prstGeom>
          <a:noFill/>
          <a:ln/>
        </p:spPr>
        <p:txBody>
          <a:bodyPr wrap="square" lIns="0" tIns="0" rIns="0" bIns="0" rtlCol="0" anchor="ctr"/>
          <a:lstStyle/>
          <a:p>
            <a:pPr indent="0" marL="0">
              <a:buNone/>
            </a:pPr>
            <a:r>
              <a:rPr lang="en-US" sz="1300" b="1" spc="300" kern="0" dirty="0">
                <a:solidFill>
                  <a:srgbClr val="5BD1C4"/>
                </a:solidFill>
                <a:latin typeface="Calibri" pitchFamily="34" charset="0"/>
                <a:ea typeface="Calibri" pitchFamily="34" charset="-122"/>
                <a:cs typeface="Calibri" pitchFamily="34" charset="-120"/>
              </a:rPr>
              <a:t>A LECTURE ASIDE</a:t>
            </a:r>
            <a:endParaRPr lang="en-US" sz="1300" dirty="0"/>
          </a:p>
        </p:txBody>
      </p:sp>
      <p:sp>
        <p:nvSpPr>
          <p:cNvPr id="5" name="Text 3"/>
          <p:cNvSpPr txBox="1"/>
          <p:nvPr/>
        </p:nvSpPr>
        <p:spPr>
          <a:xfrm>
            <a:off x="822960" y="2057400"/>
            <a:ext cx="7680960" cy="914400"/>
          </a:xfrm>
          <a:prstGeom prst="rect">
            <a:avLst/>
          </a:prstGeom>
          <a:noFill/>
          <a:ln/>
        </p:spPr>
        <p:txBody>
          <a:bodyPr wrap="square" lIns="0" tIns="0" rIns="0" bIns="0" rtlCol="0" anchor="ctr"/>
          <a:lstStyle/>
          <a:p>
            <a:pPr indent="0" marL="0">
              <a:buNone/>
            </a:pPr>
            <a:r>
              <a:rPr lang="en-US" sz="5200" b="1" dirty="0">
                <a:solidFill>
                  <a:srgbClr val="DCE3F5"/>
                </a:solidFill>
                <a:latin typeface="Cambria" pitchFamily="34" charset="0"/>
                <a:ea typeface="Cambria" pitchFamily="34" charset="-122"/>
                <a:cs typeface="Cambria" pitchFamily="34" charset="-120"/>
              </a:rPr>
              <a:t>What's on the shirt</a:t>
            </a:r>
            <a:endParaRPr lang="en-US" sz="5200" dirty="0"/>
          </a:p>
        </p:txBody>
      </p:sp>
      <p:sp>
        <p:nvSpPr>
          <p:cNvPr id="6" name="Text 4"/>
          <p:cNvSpPr txBox="1"/>
          <p:nvPr/>
        </p:nvSpPr>
        <p:spPr>
          <a:xfrm>
            <a:off x="822960" y="3017520"/>
            <a:ext cx="7680960" cy="457200"/>
          </a:xfrm>
          <a:prstGeom prst="rect">
            <a:avLst/>
          </a:prstGeom>
          <a:noFill/>
          <a:ln/>
        </p:spPr>
        <p:txBody>
          <a:bodyPr wrap="square" lIns="0" tIns="0" rIns="0" bIns="0" rtlCol="0" anchor="ctr"/>
          <a:lstStyle/>
          <a:p>
            <a:pPr indent="0" marL="0">
              <a:buNone/>
            </a:pPr>
            <a:r>
              <a:rPr lang="en-US" sz="2000" dirty="0">
                <a:solidFill>
                  <a:srgbClr val="94A3C8"/>
                </a:solidFill>
                <a:latin typeface="Calibri" pitchFamily="34" charset="0"/>
                <a:ea typeface="Calibri" pitchFamily="34" charset="-122"/>
                <a:cs typeface="Calibri" pitchFamily="34" charset="-120"/>
              </a:rPr>
              <a:t>A theoretical model, and how one fits on a t-shirt</a:t>
            </a:r>
            <a:endParaRPr lang="en-US" sz="2000" dirty="0"/>
          </a:p>
        </p:txBody>
      </p:sp>
      <p:sp>
        <p:nvSpPr>
          <p:cNvPr id="7" name="Text 5"/>
          <p:cNvSpPr txBox="1"/>
          <p:nvPr/>
        </p:nvSpPr>
        <p:spPr>
          <a:xfrm>
            <a:off x="822960" y="3977640"/>
            <a:ext cx="7315200" cy="548640"/>
          </a:xfrm>
          <a:prstGeom prst="rect">
            <a:avLst/>
          </a:prstGeom>
          <a:noFill/>
          <a:ln/>
        </p:spPr>
        <p:txBody>
          <a:bodyPr wrap="square" lIns="0" tIns="0" rIns="0" bIns="0" rtlCol="0" anchor="ctr"/>
          <a:lstStyle/>
          <a:p>
            <a:pPr indent="0" marL="0">
              <a:buNone/>
            </a:pPr>
            <a:r>
              <a:rPr lang="en-US" sz="1200" i="1" dirty="0">
                <a:solidFill>
                  <a:srgbClr val="94A3C8"/>
                </a:solidFill>
                <a:latin typeface="Calibri" pitchFamily="34" charset="0"/>
                <a:ea typeface="Calibri" pitchFamily="34" charset="-122"/>
                <a:cs typeface="Calibri" pitchFamily="34" charset="-120"/>
              </a:rPr>
              <a:t>The compact CERN form. The long typeset version comes from Veltman's Diagrammatica, transcribed by T. D. Gutierrez.</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631"/>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300" b="1" spc="200" kern="0" dirty="0">
                <a:solidFill>
                  <a:srgbClr val="F2B134"/>
                </a:solidFill>
                <a:latin typeface="Calibri" pitchFamily="34" charset="0"/>
                <a:ea typeface="Calibri" pitchFamily="34" charset="-122"/>
                <a:cs typeface="Calibri" pitchFamily="34" charset="-120"/>
              </a:rPr>
              <a:t>THIS IS STILL A COURSE ABOUT MODELS</a:t>
            </a:r>
            <a:endParaRPr lang="en-US" sz="13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600" b="1" dirty="0">
                <a:solidFill>
                  <a:srgbClr val="DCE3F5"/>
                </a:solidFill>
                <a:latin typeface="Cambria" pitchFamily="34" charset="0"/>
                <a:ea typeface="Cambria" pitchFamily="34" charset="-122"/>
                <a:cs typeface="Cambria" pitchFamily="34" charset="-120"/>
              </a:rPr>
              <a:t>A theoretical model</a:t>
            </a:r>
            <a:endParaRPr lang="en-US" sz="3600" dirty="0"/>
          </a:p>
        </p:txBody>
      </p:sp>
      <p:sp>
        <p:nvSpPr>
          <p:cNvPr id="4" name="Text 2"/>
          <p:cNvSpPr txBox="1"/>
          <p:nvPr/>
        </p:nvSpPr>
        <p:spPr>
          <a:xfrm>
            <a:off x="640080" y="1691640"/>
            <a:ext cx="10881360" cy="548640"/>
          </a:xfrm>
          <a:prstGeom prst="rect">
            <a:avLst/>
          </a:prstGeom>
          <a:noFill/>
          <a:ln/>
        </p:spPr>
        <p:txBody>
          <a:bodyPr wrap="square" lIns="0" tIns="0" rIns="0" bIns="0" rtlCol="0" anchor="ctr"/>
          <a:lstStyle/>
          <a:p>
            <a:pPr indent="0" marL="0">
              <a:buNone/>
            </a:pPr>
            <a:r>
              <a:rPr lang="en-US" sz="1500" dirty="0">
                <a:solidFill>
                  <a:srgbClr val="DCE3F5"/>
                </a:solidFill>
                <a:latin typeface="Calibri" pitchFamily="34" charset="0"/>
                <a:ea typeface="Calibri" pitchFamily="34" charset="-122"/>
                <a:cs typeface="Calibri" pitchFamily="34" charset="-120"/>
              </a:rPr>
              <a:t>Some of our models are built from data, like a histogram. Some generate data, like your random number generators. This one is a third kind: what we know about the world, written down as mathematics.</a:t>
            </a:r>
            <a:endParaRPr lang="en-US" sz="1500" dirty="0"/>
          </a:p>
        </p:txBody>
      </p:sp>
      <p:sp>
        <p:nvSpPr>
          <p:cNvPr id="5" name="Shape 3"/>
          <p:cNvSpPr/>
          <p:nvPr/>
        </p:nvSpPr>
        <p:spPr>
          <a:xfrm>
            <a:off x="640080" y="2423160"/>
            <a:ext cx="2542032" cy="2194560"/>
          </a:xfrm>
          <a:prstGeom prst="roundRect">
            <a:avLst>
              <a:gd name="adj" fmla="val 4167"/>
            </a:avLst>
          </a:prstGeom>
          <a:solidFill>
            <a:srgbClr val="1A2450"/>
          </a:solidFill>
          <a:ln w="12700">
            <a:solidFill>
              <a:srgbClr val="212C5C"/>
            </a:solidFill>
            <a:prstDash val="solid"/>
          </a:ln>
        </p:spPr>
      </p:sp>
      <p:sp>
        <p:nvSpPr>
          <p:cNvPr id="6" name="Shape 4"/>
          <p:cNvSpPr/>
          <p:nvPr/>
        </p:nvSpPr>
        <p:spPr>
          <a:xfrm>
            <a:off x="896112" y="2697480"/>
            <a:ext cx="457200" cy="457200"/>
          </a:xfrm>
          <a:prstGeom prst="ellipse">
            <a:avLst/>
          </a:prstGeom>
          <a:solidFill>
            <a:srgbClr val="F2B134"/>
          </a:solidFill>
          <a:ln w="12700">
            <a:solidFill>
              <a:srgbClr val="F2B134"/>
            </a:solidFill>
            <a:prstDash val="solid"/>
          </a:ln>
        </p:spPr>
      </p:sp>
      <p:sp>
        <p:nvSpPr>
          <p:cNvPr id="7" name="Text 5"/>
          <p:cNvSpPr txBox="1"/>
          <p:nvPr/>
        </p:nvSpPr>
        <p:spPr>
          <a:xfrm>
            <a:off x="896112" y="2697480"/>
            <a:ext cx="457200" cy="457200"/>
          </a:xfrm>
          <a:prstGeom prst="rect">
            <a:avLst/>
          </a:prstGeom>
          <a:noFill/>
          <a:ln/>
        </p:spPr>
        <p:txBody>
          <a:bodyPr wrap="square" lIns="0" tIns="0" rIns="0" bIns="0" rtlCol="0" anchor="ctr"/>
          <a:lstStyle/>
          <a:p>
            <a:pPr algn="ctr" indent="0" marL="0">
              <a:buNone/>
            </a:pPr>
            <a:r>
              <a:rPr lang="en-US" sz="1600" b="1" dirty="0">
                <a:solidFill>
                  <a:srgbClr val="0E1631"/>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896112" y="3310128"/>
            <a:ext cx="2057400" cy="365760"/>
          </a:xfrm>
          <a:prstGeom prst="rect">
            <a:avLst/>
          </a:prstGeom>
          <a:noFill/>
          <a:ln/>
        </p:spPr>
        <p:txBody>
          <a:bodyPr wrap="square" lIns="0" tIns="0" rIns="0" bIns="0" rtlCol="0" anchor="ctr"/>
          <a:lstStyle/>
          <a:p>
            <a:pPr indent="0" marL="0">
              <a:buNone/>
            </a:pPr>
            <a:r>
              <a:rPr lang="en-US" sz="2000" b="1" dirty="0">
                <a:solidFill>
                  <a:srgbClr val="F2B134"/>
                </a:solidFill>
                <a:latin typeface="Cambria" pitchFamily="34" charset="0"/>
                <a:ea typeface="Cambria" pitchFamily="34" charset="-122"/>
                <a:cs typeface="Cambria" pitchFamily="34" charset="-120"/>
              </a:rPr>
              <a:t>Observe</a:t>
            </a:r>
            <a:endParaRPr lang="en-US" sz="2000" dirty="0"/>
          </a:p>
        </p:txBody>
      </p:sp>
      <p:sp>
        <p:nvSpPr>
          <p:cNvPr id="9" name="Text 7"/>
          <p:cNvSpPr txBox="1"/>
          <p:nvPr/>
        </p:nvSpPr>
        <p:spPr>
          <a:xfrm>
            <a:off x="896112" y="3703320"/>
            <a:ext cx="2057400" cy="822960"/>
          </a:xfrm>
          <a:prstGeom prst="rect">
            <a:avLst/>
          </a:prstGeom>
          <a:noFill/>
          <a:ln/>
        </p:spPr>
        <p:txBody>
          <a:bodyPr wrap="square" lIns="0" tIns="0" rIns="0" bIns="0" rtlCol="0" anchor="ctr"/>
          <a:lstStyle/>
          <a:p>
            <a:pPr indent="0" marL="0">
              <a:lnSpc>
                <a:spcPct val="110000"/>
              </a:lnSpc>
              <a:buNone/>
            </a:pPr>
            <a:r>
              <a:rPr lang="en-US" sz="1300" dirty="0">
                <a:solidFill>
                  <a:srgbClr val="DCE3F5"/>
                </a:solidFill>
                <a:latin typeface="Calibri" pitchFamily="34" charset="0"/>
                <a:ea typeface="Calibri" pitchFamily="34" charset="-122"/>
                <a:cs typeface="Calibri" pitchFamily="34" charset="-120"/>
              </a:rPr>
              <a:t>Measurements, regularities, things that always happen the same way.</a:t>
            </a:r>
            <a:endParaRPr lang="en-US" sz="1300" dirty="0"/>
          </a:p>
        </p:txBody>
      </p:sp>
      <p:sp>
        <p:nvSpPr>
          <p:cNvPr id="10" name="Text 8"/>
          <p:cNvSpPr txBox="1"/>
          <p:nvPr/>
        </p:nvSpPr>
        <p:spPr>
          <a:xfrm>
            <a:off x="3218688" y="3291840"/>
            <a:ext cx="219456" cy="457200"/>
          </a:xfrm>
          <a:prstGeom prst="rect">
            <a:avLst/>
          </a:prstGeom>
          <a:noFill/>
          <a:ln/>
        </p:spPr>
        <p:txBody>
          <a:bodyPr wrap="square" lIns="0" tIns="0" rIns="0" bIns="0" rtlCol="0" anchor="ctr"/>
          <a:lstStyle/>
          <a:p>
            <a:pPr algn="ctr" indent="0" marL="0">
              <a:buNone/>
            </a:pPr>
            <a:r>
              <a:rPr lang="en-US" sz="2400" b="1" dirty="0">
                <a:solidFill>
                  <a:srgbClr val="94A3C8"/>
                </a:solidFill>
                <a:latin typeface="Calibri" pitchFamily="34" charset="0"/>
                <a:ea typeface="Calibri" pitchFamily="34" charset="-122"/>
                <a:cs typeface="Calibri" pitchFamily="34" charset="-120"/>
              </a:rPr>
              <a:t>›</a:t>
            </a:r>
            <a:endParaRPr lang="en-US" sz="2400" dirty="0"/>
          </a:p>
        </p:txBody>
      </p:sp>
      <p:sp>
        <p:nvSpPr>
          <p:cNvPr id="11" name="Shape 9"/>
          <p:cNvSpPr/>
          <p:nvPr/>
        </p:nvSpPr>
        <p:spPr>
          <a:xfrm>
            <a:off x="3438144" y="2423160"/>
            <a:ext cx="2542032" cy="2194560"/>
          </a:xfrm>
          <a:prstGeom prst="roundRect">
            <a:avLst>
              <a:gd name="adj" fmla="val 4167"/>
            </a:avLst>
          </a:prstGeom>
          <a:solidFill>
            <a:srgbClr val="1A2450"/>
          </a:solidFill>
          <a:ln w="12700">
            <a:solidFill>
              <a:srgbClr val="212C5C"/>
            </a:solidFill>
            <a:prstDash val="solid"/>
          </a:ln>
        </p:spPr>
      </p:sp>
      <p:sp>
        <p:nvSpPr>
          <p:cNvPr id="12" name="Shape 10"/>
          <p:cNvSpPr/>
          <p:nvPr/>
        </p:nvSpPr>
        <p:spPr>
          <a:xfrm>
            <a:off x="3694176" y="2697480"/>
            <a:ext cx="457200" cy="457200"/>
          </a:xfrm>
          <a:prstGeom prst="ellipse">
            <a:avLst/>
          </a:prstGeom>
          <a:solidFill>
            <a:srgbClr val="F2B134"/>
          </a:solidFill>
          <a:ln w="12700">
            <a:solidFill>
              <a:srgbClr val="F2B134"/>
            </a:solidFill>
            <a:prstDash val="solid"/>
          </a:ln>
        </p:spPr>
      </p:sp>
      <p:sp>
        <p:nvSpPr>
          <p:cNvPr id="13" name="Text 11"/>
          <p:cNvSpPr txBox="1"/>
          <p:nvPr/>
        </p:nvSpPr>
        <p:spPr>
          <a:xfrm>
            <a:off x="3694176" y="2697480"/>
            <a:ext cx="457200" cy="457200"/>
          </a:xfrm>
          <a:prstGeom prst="rect">
            <a:avLst/>
          </a:prstGeom>
          <a:noFill/>
          <a:ln/>
        </p:spPr>
        <p:txBody>
          <a:bodyPr wrap="square" lIns="0" tIns="0" rIns="0" bIns="0" rtlCol="0" anchor="ctr"/>
          <a:lstStyle/>
          <a:p>
            <a:pPr algn="ctr" indent="0" marL="0">
              <a:buNone/>
            </a:pPr>
            <a:r>
              <a:rPr lang="en-US" sz="1600" b="1" dirty="0">
                <a:solidFill>
                  <a:srgbClr val="0E1631"/>
                </a:solidFill>
                <a:latin typeface="Cambria" pitchFamily="34" charset="0"/>
                <a:ea typeface="Cambria" pitchFamily="34" charset="-122"/>
                <a:cs typeface="Cambria" pitchFamily="34" charset="-120"/>
              </a:rPr>
              <a:t>2</a:t>
            </a:r>
            <a:endParaRPr lang="en-US" sz="1600" dirty="0"/>
          </a:p>
        </p:txBody>
      </p:sp>
      <p:sp>
        <p:nvSpPr>
          <p:cNvPr id="14" name="Text 12"/>
          <p:cNvSpPr txBox="1"/>
          <p:nvPr/>
        </p:nvSpPr>
        <p:spPr>
          <a:xfrm>
            <a:off x="3694176" y="3310128"/>
            <a:ext cx="2057400" cy="365760"/>
          </a:xfrm>
          <a:prstGeom prst="rect">
            <a:avLst/>
          </a:prstGeom>
          <a:noFill/>
          <a:ln/>
        </p:spPr>
        <p:txBody>
          <a:bodyPr wrap="square" lIns="0" tIns="0" rIns="0" bIns="0" rtlCol="0" anchor="ctr"/>
          <a:lstStyle/>
          <a:p>
            <a:pPr indent="0" marL="0">
              <a:buNone/>
            </a:pPr>
            <a:r>
              <a:rPr lang="en-US" sz="2000" b="1" dirty="0">
                <a:solidFill>
                  <a:srgbClr val="F2B134"/>
                </a:solidFill>
                <a:latin typeface="Cambria" pitchFamily="34" charset="0"/>
                <a:ea typeface="Cambria" pitchFamily="34" charset="-122"/>
                <a:cs typeface="Cambria" pitchFamily="34" charset="-120"/>
              </a:rPr>
              <a:t>Encode</a:t>
            </a:r>
            <a:endParaRPr lang="en-US" sz="2000" dirty="0"/>
          </a:p>
        </p:txBody>
      </p:sp>
      <p:sp>
        <p:nvSpPr>
          <p:cNvPr id="15" name="Text 13"/>
          <p:cNvSpPr txBox="1"/>
          <p:nvPr/>
        </p:nvSpPr>
        <p:spPr>
          <a:xfrm>
            <a:off x="3694176" y="3703320"/>
            <a:ext cx="2057400" cy="822960"/>
          </a:xfrm>
          <a:prstGeom prst="rect">
            <a:avLst/>
          </a:prstGeom>
          <a:noFill/>
          <a:ln/>
        </p:spPr>
        <p:txBody>
          <a:bodyPr wrap="square" lIns="0" tIns="0" rIns="0" bIns="0" rtlCol="0" anchor="ctr"/>
          <a:lstStyle/>
          <a:p>
            <a:pPr indent="0" marL="0">
              <a:lnSpc>
                <a:spcPct val="110000"/>
              </a:lnSpc>
              <a:buNone/>
            </a:pPr>
            <a:r>
              <a:rPr lang="en-US" sz="1300" dirty="0">
                <a:solidFill>
                  <a:srgbClr val="DCE3F5"/>
                </a:solidFill>
                <a:latin typeface="Calibri" pitchFamily="34" charset="0"/>
                <a:ea typeface="Calibri" pitchFamily="34" charset="-122"/>
                <a:cs typeface="Calibri" pitchFamily="34" charset="-120"/>
              </a:rPr>
              <a:t>Write the regularity as mathematics — the smallest statement that contains it.</a:t>
            </a:r>
            <a:endParaRPr lang="en-US" sz="1300" dirty="0"/>
          </a:p>
        </p:txBody>
      </p:sp>
      <p:sp>
        <p:nvSpPr>
          <p:cNvPr id="16" name="Text 14"/>
          <p:cNvSpPr txBox="1"/>
          <p:nvPr/>
        </p:nvSpPr>
        <p:spPr>
          <a:xfrm>
            <a:off x="6016752" y="3291840"/>
            <a:ext cx="219456" cy="457200"/>
          </a:xfrm>
          <a:prstGeom prst="rect">
            <a:avLst/>
          </a:prstGeom>
          <a:noFill/>
          <a:ln/>
        </p:spPr>
        <p:txBody>
          <a:bodyPr wrap="square" lIns="0" tIns="0" rIns="0" bIns="0" rtlCol="0" anchor="ctr"/>
          <a:lstStyle/>
          <a:p>
            <a:pPr algn="ctr" indent="0" marL="0">
              <a:buNone/>
            </a:pPr>
            <a:r>
              <a:rPr lang="en-US" sz="2400" b="1" dirty="0">
                <a:solidFill>
                  <a:srgbClr val="94A3C8"/>
                </a:solidFill>
                <a:latin typeface="Calibri" pitchFamily="34" charset="0"/>
                <a:ea typeface="Calibri" pitchFamily="34" charset="-122"/>
                <a:cs typeface="Calibri" pitchFamily="34" charset="-120"/>
              </a:rPr>
              <a:t>›</a:t>
            </a:r>
            <a:endParaRPr lang="en-US" sz="2400" dirty="0"/>
          </a:p>
        </p:txBody>
      </p:sp>
      <p:sp>
        <p:nvSpPr>
          <p:cNvPr id="17" name="Shape 15"/>
          <p:cNvSpPr/>
          <p:nvPr/>
        </p:nvSpPr>
        <p:spPr>
          <a:xfrm>
            <a:off x="6236208" y="2423160"/>
            <a:ext cx="2542032" cy="2194560"/>
          </a:xfrm>
          <a:prstGeom prst="roundRect">
            <a:avLst>
              <a:gd name="adj" fmla="val 4167"/>
            </a:avLst>
          </a:prstGeom>
          <a:solidFill>
            <a:srgbClr val="1A2450"/>
          </a:solidFill>
          <a:ln w="12700">
            <a:solidFill>
              <a:srgbClr val="212C5C"/>
            </a:solidFill>
            <a:prstDash val="solid"/>
          </a:ln>
        </p:spPr>
      </p:sp>
      <p:sp>
        <p:nvSpPr>
          <p:cNvPr id="18" name="Shape 16"/>
          <p:cNvSpPr/>
          <p:nvPr/>
        </p:nvSpPr>
        <p:spPr>
          <a:xfrm>
            <a:off x="6492240" y="2697480"/>
            <a:ext cx="457200" cy="457200"/>
          </a:xfrm>
          <a:prstGeom prst="ellipse">
            <a:avLst/>
          </a:prstGeom>
          <a:solidFill>
            <a:srgbClr val="F2B134"/>
          </a:solidFill>
          <a:ln w="12700">
            <a:solidFill>
              <a:srgbClr val="F2B134"/>
            </a:solidFill>
            <a:prstDash val="solid"/>
          </a:ln>
        </p:spPr>
      </p:sp>
      <p:sp>
        <p:nvSpPr>
          <p:cNvPr id="19" name="Text 17"/>
          <p:cNvSpPr txBox="1"/>
          <p:nvPr/>
        </p:nvSpPr>
        <p:spPr>
          <a:xfrm>
            <a:off x="6492240" y="2697480"/>
            <a:ext cx="457200" cy="457200"/>
          </a:xfrm>
          <a:prstGeom prst="rect">
            <a:avLst/>
          </a:prstGeom>
          <a:noFill/>
          <a:ln/>
        </p:spPr>
        <p:txBody>
          <a:bodyPr wrap="square" lIns="0" tIns="0" rIns="0" bIns="0" rtlCol="0" anchor="ctr"/>
          <a:lstStyle/>
          <a:p>
            <a:pPr algn="ctr" indent="0" marL="0">
              <a:buNone/>
            </a:pPr>
            <a:r>
              <a:rPr lang="en-US" sz="1600" b="1" dirty="0">
                <a:solidFill>
                  <a:srgbClr val="0E1631"/>
                </a:solidFill>
                <a:latin typeface="Cambria" pitchFamily="34" charset="0"/>
                <a:ea typeface="Cambria" pitchFamily="34" charset="-122"/>
                <a:cs typeface="Cambria" pitchFamily="34" charset="-120"/>
              </a:rPr>
              <a:t>3</a:t>
            </a:r>
            <a:endParaRPr lang="en-US" sz="1600" dirty="0"/>
          </a:p>
        </p:txBody>
      </p:sp>
      <p:sp>
        <p:nvSpPr>
          <p:cNvPr id="20" name="Text 18"/>
          <p:cNvSpPr txBox="1"/>
          <p:nvPr/>
        </p:nvSpPr>
        <p:spPr>
          <a:xfrm>
            <a:off x="6492240" y="3310128"/>
            <a:ext cx="2057400" cy="365760"/>
          </a:xfrm>
          <a:prstGeom prst="rect">
            <a:avLst/>
          </a:prstGeom>
          <a:noFill/>
          <a:ln/>
        </p:spPr>
        <p:txBody>
          <a:bodyPr wrap="square" lIns="0" tIns="0" rIns="0" bIns="0" rtlCol="0" anchor="ctr"/>
          <a:lstStyle/>
          <a:p>
            <a:pPr indent="0" marL="0">
              <a:buNone/>
            </a:pPr>
            <a:r>
              <a:rPr lang="en-US" sz="2000" b="1" dirty="0">
                <a:solidFill>
                  <a:srgbClr val="F2B134"/>
                </a:solidFill>
                <a:latin typeface="Cambria" pitchFamily="34" charset="0"/>
                <a:ea typeface="Cambria" pitchFamily="34" charset="-122"/>
                <a:cs typeface="Cambria" pitchFamily="34" charset="-120"/>
              </a:rPr>
              <a:t>Generate</a:t>
            </a:r>
            <a:endParaRPr lang="en-US" sz="2000" dirty="0"/>
          </a:p>
        </p:txBody>
      </p:sp>
      <p:sp>
        <p:nvSpPr>
          <p:cNvPr id="21" name="Text 19"/>
          <p:cNvSpPr txBox="1"/>
          <p:nvPr/>
        </p:nvSpPr>
        <p:spPr>
          <a:xfrm>
            <a:off x="6492240" y="3703320"/>
            <a:ext cx="2057400" cy="822960"/>
          </a:xfrm>
          <a:prstGeom prst="rect">
            <a:avLst/>
          </a:prstGeom>
          <a:noFill/>
          <a:ln/>
        </p:spPr>
        <p:txBody>
          <a:bodyPr wrap="square" lIns="0" tIns="0" rIns="0" bIns="0" rtlCol="0" anchor="ctr"/>
          <a:lstStyle/>
          <a:p>
            <a:pPr indent="0" marL="0">
              <a:lnSpc>
                <a:spcPct val="110000"/>
              </a:lnSpc>
              <a:buNone/>
            </a:pPr>
            <a:r>
              <a:rPr lang="en-US" sz="1300" dirty="0">
                <a:solidFill>
                  <a:srgbClr val="DCE3F5"/>
                </a:solidFill>
                <a:latin typeface="Calibri" pitchFamily="34" charset="0"/>
                <a:ea typeface="Calibri" pitchFamily="34" charset="-122"/>
                <a:cs typeface="Calibri" pitchFamily="34" charset="-120"/>
              </a:rPr>
              <a:t>Turn the crank. The mathematics hands back motion, rates, spectra.</a:t>
            </a:r>
            <a:endParaRPr lang="en-US" sz="1300" dirty="0"/>
          </a:p>
        </p:txBody>
      </p:sp>
      <p:sp>
        <p:nvSpPr>
          <p:cNvPr id="22" name="Text 20"/>
          <p:cNvSpPr txBox="1"/>
          <p:nvPr/>
        </p:nvSpPr>
        <p:spPr>
          <a:xfrm>
            <a:off x="8814816" y="3291840"/>
            <a:ext cx="219456" cy="457200"/>
          </a:xfrm>
          <a:prstGeom prst="rect">
            <a:avLst/>
          </a:prstGeom>
          <a:noFill/>
          <a:ln/>
        </p:spPr>
        <p:txBody>
          <a:bodyPr wrap="square" lIns="0" tIns="0" rIns="0" bIns="0" rtlCol="0" anchor="ctr"/>
          <a:lstStyle/>
          <a:p>
            <a:pPr algn="ctr" indent="0" marL="0">
              <a:buNone/>
            </a:pPr>
            <a:r>
              <a:rPr lang="en-US" sz="2400" b="1" dirty="0">
                <a:solidFill>
                  <a:srgbClr val="94A3C8"/>
                </a:solidFill>
                <a:latin typeface="Calibri" pitchFamily="34" charset="0"/>
                <a:ea typeface="Calibri" pitchFamily="34" charset="-122"/>
                <a:cs typeface="Calibri" pitchFamily="34" charset="-120"/>
              </a:rPr>
              <a:t>›</a:t>
            </a:r>
            <a:endParaRPr lang="en-US" sz="2400" dirty="0"/>
          </a:p>
        </p:txBody>
      </p:sp>
      <p:sp>
        <p:nvSpPr>
          <p:cNvPr id="23" name="Shape 21"/>
          <p:cNvSpPr/>
          <p:nvPr/>
        </p:nvSpPr>
        <p:spPr>
          <a:xfrm>
            <a:off x="9034272" y="2423160"/>
            <a:ext cx="2542032" cy="2194560"/>
          </a:xfrm>
          <a:prstGeom prst="roundRect">
            <a:avLst>
              <a:gd name="adj" fmla="val 4167"/>
            </a:avLst>
          </a:prstGeom>
          <a:solidFill>
            <a:srgbClr val="1A2450"/>
          </a:solidFill>
          <a:ln w="12700">
            <a:solidFill>
              <a:srgbClr val="212C5C"/>
            </a:solidFill>
            <a:prstDash val="solid"/>
          </a:ln>
        </p:spPr>
      </p:sp>
      <p:sp>
        <p:nvSpPr>
          <p:cNvPr id="24" name="Shape 22"/>
          <p:cNvSpPr/>
          <p:nvPr/>
        </p:nvSpPr>
        <p:spPr>
          <a:xfrm>
            <a:off x="9290304" y="2697480"/>
            <a:ext cx="457200" cy="457200"/>
          </a:xfrm>
          <a:prstGeom prst="ellipse">
            <a:avLst/>
          </a:prstGeom>
          <a:solidFill>
            <a:srgbClr val="F2B134"/>
          </a:solidFill>
          <a:ln w="12700">
            <a:solidFill>
              <a:srgbClr val="F2B134"/>
            </a:solidFill>
            <a:prstDash val="solid"/>
          </a:ln>
        </p:spPr>
      </p:sp>
      <p:sp>
        <p:nvSpPr>
          <p:cNvPr id="25" name="Text 23"/>
          <p:cNvSpPr txBox="1"/>
          <p:nvPr/>
        </p:nvSpPr>
        <p:spPr>
          <a:xfrm>
            <a:off x="9290304" y="2697480"/>
            <a:ext cx="457200" cy="457200"/>
          </a:xfrm>
          <a:prstGeom prst="rect">
            <a:avLst/>
          </a:prstGeom>
          <a:noFill/>
          <a:ln/>
        </p:spPr>
        <p:txBody>
          <a:bodyPr wrap="square" lIns="0" tIns="0" rIns="0" bIns="0" rtlCol="0" anchor="ctr"/>
          <a:lstStyle/>
          <a:p>
            <a:pPr algn="ctr" indent="0" marL="0">
              <a:buNone/>
            </a:pPr>
            <a:r>
              <a:rPr lang="en-US" sz="1600" b="1" dirty="0">
                <a:solidFill>
                  <a:srgbClr val="0E1631"/>
                </a:solidFill>
                <a:latin typeface="Cambria" pitchFamily="34" charset="0"/>
                <a:ea typeface="Cambria" pitchFamily="34" charset="-122"/>
                <a:cs typeface="Cambria" pitchFamily="34" charset="-120"/>
              </a:rPr>
              <a:t>4</a:t>
            </a:r>
            <a:endParaRPr lang="en-US" sz="1600" dirty="0"/>
          </a:p>
        </p:txBody>
      </p:sp>
      <p:sp>
        <p:nvSpPr>
          <p:cNvPr id="26" name="Text 24"/>
          <p:cNvSpPr txBox="1"/>
          <p:nvPr/>
        </p:nvSpPr>
        <p:spPr>
          <a:xfrm>
            <a:off x="9290304" y="3310128"/>
            <a:ext cx="2057400" cy="365760"/>
          </a:xfrm>
          <a:prstGeom prst="rect">
            <a:avLst/>
          </a:prstGeom>
          <a:noFill/>
          <a:ln/>
        </p:spPr>
        <p:txBody>
          <a:bodyPr wrap="square" lIns="0" tIns="0" rIns="0" bIns="0" rtlCol="0" anchor="ctr"/>
          <a:lstStyle/>
          <a:p>
            <a:pPr indent="0" marL="0">
              <a:buNone/>
            </a:pPr>
            <a:r>
              <a:rPr lang="en-US" sz="2000" b="1" dirty="0">
                <a:solidFill>
                  <a:srgbClr val="F2B134"/>
                </a:solidFill>
                <a:latin typeface="Cambria" pitchFamily="34" charset="0"/>
                <a:ea typeface="Cambria" pitchFamily="34" charset="-122"/>
                <a:cs typeface="Cambria" pitchFamily="34" charset="-120"/>
              </a:rPr>
              <a:t>Compare</a:t>
            </a:r>
            <a:endParaRPr lang="en-US" sz="2000" dirty="0"/>
          </a:p>
        </p:txBody>
      </p:sp>
      <p:sp>
        <p:nvSpPr>
          <p:cNvPr id="27" name="Text 25"/>
          <p:cNvSpPr txBox="1"/>
          <p:nvPr/>
        </p:nvSpPr>
        <p:spPr>
          <a:xfrm>
            <a:off x="9290304" y="3703320"/>
            <a:ext cx="2057400" cy="822960"/>
          </a:xfrm>
          <a:prstGeom prst="rect">
            <a:avLst/>
          </a:prstGeom>
          <a:noFill/>
          <a:ln/>
        </p:spPr>
        <p:txBody>
          <a:bodyPr wrap="square" lIns="0" tIns="0" rIns="0" bIns="0" rtlCol="0" anchor="ctr"/>
          <a:lstStyle/>
          <a:p>
            <a:pPr indent="0" marL="0">
              <a:lnSpc>
                <a:spcPct val="110000"/>
              </a:lnSpc>
              <a:buNone/>
            </a:pPr>
            <a:r>
              <a:rPr lang="en-US" sz="1300" dirty="0">
                <a:solidFill>
                  <a:srgbClr val="DCE3F5"/>
                </a:solidFill>
                <a:latin typeface="Calibri" pitchFamily="34" charset="0"/>
                <a:ea typeface="Calibri" pitchFamily="34" charset="-122"/>
                <a:cs typeface="Calibri" pitchFamily="34" charset="-120"/>
              </a:rPr>
              <a:t>Check the prediction against a measurement. It lands where predicted: the model is right. Anywhere else: it is wrong.</a:t>
            </a:r>
            <a:endParaRPr lang="en-US" sz="1300" dirty="0"/>
          </a:p>
        </p:txBody>
      </p:sp>
      <p:sp>
        <p:nvSpPr>
          <p:cNvPr id="28" name="Text 26"/>
          <p:cNvSpPr txBox="1"/>
          <p:nvPr/>
        </p:nvSpPr>
        <p:spPr>
          <a:xfrm>
            <a:off x="640080" y="4983480"/>
            <a:ext cx="10908792" cy="457200"/>
          </a:xfrm>
          <a:prstGeom prst="rect">
            <a:avLst/>
          </a:prstGeom>
          <a:noFill/>
          <a:ln/>
        </p:spPr>
        <p:txBody>
          <a:bodyPr wrap="square" lIns="0" tIns="0" rIns="0" bIns="0" rtlCol="0" anchor="ctr"/>
          <a:lstStyle/>
          <a:p>
            <a:pPr indent="0" marL="0">
              <a:buNone/>
            </a:pPr>
            <a:r>
              <a:rPr lang="en-US" sz="1900" b="1" i="1" dirty="0">
                <a:solidFill>
                  <a:srgbClr val="F2B134"/>
                </a:solidFill>
                <a:latin typeface="Cambria" pitchFamily="34" charset="0"/>
                <a:ea typeface="Cambria" pitchFamily="34" charset="-122"/>
                <a:cs typeface="Cambria" pitchFamily="34" charset="-120"/>
              </a:rPr>
              <a:t>Not meant as an approximation of reality, but as our best statement of what reality is.</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631"/>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300" b="1" spc="200" kern="0" dirty="0">
                <a:solidFill>
                  <a:srgbClr val="F2B134"/>
                </a:solidFill>
                <a:latin typeface="Calibri" pitchFamily="34" charset="0"/>
                <a:ea typeface="Calibri" pitchFamily="34" charset="-122"/>
                <a:cs typeface="Calibri" pitchFamily="34" charset="-120"/>
              </a:rPr>
              <a:t>WHAT'S ON THE SHIRT</a:t>
            </a:r>
            <a:endParaRPr lang="en-US" sz="13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600" b="1" dirty="0">
                <a:solidFill>
                  <a:srgbClr val="DCE3F5"/>
                </a:solidFill>
                <a:latin typeface="Cambria" pitchFamily="34" charset="0"/>
                <a:ea typeface="Cambria" pitchFamily="34" charset="-122"/>
                <a:cs typeface="Cambria" pitchFamily="34" charset="-120"/>
              </a:rPr>
              <a:t>Why it's called a Lagrangian</a:t>
            </a:r>
            <a:endParaRPr lang="en-US" sz="3600" dirty="0"/>
          </a:p>
        </p:txBody>
      </p:sp>
      <p:sp>
        <p:nvSpPr>
          <p:cNvPr id="4" name="Text 2"/>
          <p:cNvSpPr txBox="1"/>
          <p:nvPr/>
        </p:nvSpPr>
        <p:spPr>
          <a:xfrm>
            <a:off x="640080" y="1737360"/>
            <a:ext cx="5806440" cy="2926080"/>
          </a:xfrm>
          <a:prstGeom prst="rect">
            <a:avLst/>
          </a:prstGeom>
          <a:noFill/>
          <a:ln/>
        </p:spPr>
        <p:txBody>
          <a:bodyPr wrap="square" lIns="0" tIns="0" rIns="0" bIns="0" rtlCol="0" anchor="ctr"/>
          <a:lstStyle/>
          <a:p>
            <a:pPr marL="342900" indent="-342900">
              <a:spcAft>
                <a:spcPts val="1400"/>
              </a:spcAft>
              <a:buSzPct val="100000"/>
              <a:buChar char="•"/>
            </a:pPr>
            <a:r>
              <a:rPr lang="en-US" sz="1550" dirty="0">
                <a:solidFill>
                  <a:srgbClr val="DCE3F5"/>
                </a:solidFill>
                <a:latin typeface="Calibri" pitchFamily="34" charset="0"/>
                <a:ea typeface="Calibri" pitchFamily="34" charset="-122"/>
                <a:cs typeface="Calibri" pitchFamily="34" charset="-120"/>
              </a:rPr>
              <a:t>Newton gave us forces, one situation at a time.</a:t>
            </a:r>
          </a:p>
          <a:p>
            <a:pPr marL="342900" indent="-342900">
              <a:spcAft>
                <a:spcPts val="1400"/>
              </a:spcAft>
              <a:buSzPct val="100000"/>
              <a:buChar char="•"/>
            </a:pPr>
            <a:r>
              <a:rPr lang="en-US" sz="1550" dirty="0">
                <a:solidFill>
                  <a:srgbClr val="DCE3F5"/>
                </a:solidFill>
                <a:latin typeface="Calibri" pitchFamily="34" charset="0"/>
                <a:ea typeface="Calibri" pitchFamily="34" charset="-122"/>
                <a:cs typeface="Calibri" pitchFamily="34" charset="-120"/>
              </a:rPr>
              <a:t>Underneath is one function, the Lagrangian, and one principle: of all possible paths, a system takes the one that makes the action stationary.</a:t>
            </a:r>
          </a:p>
          <a:p>
            <a:pPr marL="342900" indent="-342900">
              <a:spcAft>
                <a:spcPts val="1400"/>
              </a:spcAft>
              <a:buSzPct val="100000"/>
              <a:buChar char="•"/>
            </a:pPr>
            <a:r>
              <a:rPr lang="en-US" sz="1550" dirty="0">
                <a:solidFill>
                  <a:srgbClr val="DCE3F5"/>
                </a:solidFill>
                <a:latin typeface="Calibri" pitchFamily="34" charset="0"/>
                <a:ea typeface="Calibri" pitchFamily="34" charset="-122"/>
                <a:cs typeface="Calibri" pitchFamily="34" charset="-120"/>
              </a:rPr>
              <a:t>Quantum mechanics: add up all the paths and you get probabilities.</a:t>
            </a:r>
          </a:p>
          <a:p>
            <a:pPr marL="342900" indent="-342900">
              <a:spcAft>
                <a:spcPts val="1400"/>
              </a:spcAft>
              <a:buSzPct val="100000"/>
              <a:buChar char="•"/>
            </a:pPr>
            <a:r>
              <a:rPr lang="en-US" sz="1550" dirty="0">
                <a:solidFill>
                  <a:srgbClr val="DCE3F5"/>
                </a:solidFill>
                <a:latin typeface="Calibri" pitchFamily="34" charset="0"/>
                <a:ea typeface="Calibri" pitchFamily="34" charset="-122"/>
                <a:cs typeface="Calibri" pitchFamily="34" charset="-120"/>
              </a:rPr>
              <a:t>The same machinery works for the classical and the quantum world. It fails only for quantum gravity.</a:t>
            </a:r>
          </a:p>
        </p:txBody>
      </p:sp>
      <p:sp>
        <p:nvSpPr>
          <p:cNvPr id="5" name="Shape 3"/>
          <p:cNvSpPr/>
          <p:nvPr/>
        </p:nvSpPr>
        <p:spPr>
          <a:xfrm>
            <a:off x="6812280" y="1737360"/>
            <a:ext cx="4736592" cy="3063240"/>
          </a:xfrm>
          <a:prstGeom prst="roundRect">
            <a:avLst>
              <a:gd name="adj" fmla="val 2985"/>
            </a:avLst>
          </a:prstGeom>
          <a:solidFill>
            <a:srgbClr val="1A2450"/>
          </a:solidFill>
          <a:ln w="12700">
            <a:solidFill>
              <a:srgbClr val="212C5C"/>
            </a:solidFill>
            <a:prstDash val="solid"/>
          </a:ln>
        </p:spPr>
      </p:sp>
      <p:sp>
        <p:nvSpPr>
          <p:cNvPr id="6" name="Text 4"/>
          <p:cNvSpPr txBox="1"/>
          <p:nvPr/>
        </p:nvSpPr>
        <p:spPr>
          <a:xfrm>
            <a:off x="7086600" y="1965960"/>
            <a:ext cx="4206240" cy="274320"/>
          </a:xfrm>
          <a:prstGeom prst="rect">
            <a:avLst/>
          </a:prstGeom>
          <a:noFill/>
          <a:ln/>
        </p:spPr>
        <p:txBody>
          <a:bodyPr wrap="square" lIns="0" tIns="0" rIns="0" bIns="0" rtlCol="0" anchor="ctr"/>
          <a:lstStyle/>
          <a:p>
            <a:pPr algn="ctr" indent="0" marL="0">
              <a:buNone/>
            </a:pPr>
            <a:r>
              <a:rPr lang="en-US" sz="1150" b="1" spc="200" kern="0" dirty="0">
                <a:solidFill>
                  <a:srgbClr val="94A3C8"/>
                </a:solidFill>
                <a:latin typeface="Calibri" pitchFamily="34" charset="0"/>
                <a:ea typeface="Calibri" pitchFamily="34" charset="-122"/>
                <a:cs typeface="Calibri" pitchFamily="34" charset="-120"/>
              </a:rPr>
              <a:t>ONE FUNCTION IN</a:t>
            </a:r>
            <a:endParaRPr lang="en-US" sz="1150" dirty="0"/>
          </a:p>
        </p:txBody>
      </p:sp>
      <p:sp>
        <p:nvSpPr>
          <p:cNvPr id="7" name="Text 5"/>
          <p:cNvSpPr txBox="1"/>
          <p:nvPr/>
        </p:nvSpPr>
        <p:spPr>
          <a:xfrm>
            <a:off x="7086600" y="2240280"/>
            <a:ext cx="4206240" cy="868680"/>
          </a:xfrm>
          <a:prstGeom prst="rect">
            <a:avLst/>
          </a:prstGeom>
          <a:noFill/>
          <a:ln/>
        </p:spPr>
        <p:txBody>
          <a:bodyPr wrap="square" lIns="0" tIns="0" rIns="0" bIns="0" rtlCol="0" anchor="ctr"/>
          <a:lstStyle/>
          <a:p>
            <a:pPr algn="ctr" indent="0" marL="0">
              <a:buNone/>
            </a:pPr>
            <a:r>
              <a:rPr lang="en-US" sz="6000" b="1" dirty="0">
                <a:solidFill>
                  <a:srgbClr val="F2B134"/>
                </a:solidFill>
                <a:latin typeface="Cambria" pitchFamily="34" charset="0"/>
                <a:ea typeface="Cambria" pitchFamily="34" charset="-122"/>
                <a:cs typeface="Cambria" pitchFamily="34" charset="-120"/>
              </a:rPr>
              <a:t>ℒ</a:t>
            </a:r>
            <a:endParaRPr lang="en-US" sz="6000" dirty="0"/>
          </a:p>
        </p:txBody>
      </p:sp>
      <p:sp>
        <p:nvSpPr>
          <p:cNvPr id="8" name="Text 6"/>
          <p:cNvSpPr txBox="1"/>
          <p:nvPr/>
        </p:nvSpPr>
        <p:spPr>
          <a:xfrm>
            <a:off x="7086600" y="3127248"/>
            <a:ext cx="4206240" cy="320040"/>
          </a:xfrm>
          <a:prstGeom prst="rect">
            <a:avLst/>
          </a:prstGeom>
          <a:noFill/>
          <a:ln/>
        </p:spPr>
        <p:txBody>
          <a:bodyPr wrap="square" lIns="0" tIns="0" rIns="0" bIns="0" rtlCol="0" anchor="ctr"/>
          <a:lstStyle/>
          <a:p>
            <a:pPr algn="ctr" indent="0" marL="0">
              <a:buNone/>
            </a:pPr>
            <a:r>
              <a:rPr lang="en-US" sz="2000" dirty="0">
                <a:solidFill>
                  <a:srgbClr val="94A3C8"/>
                </a:solidFill>
                <a:latin typeface="Calibri" pitchFamily="34" charset="0"/>
                <a:ea typeface="Calibri" pitchFamily="34" charset="-122"/>
                <a:cs typeface="Calibri" pitchFamily="34" charset="-120"/>
              </a:rPr>
              <a:t>↓</a:t>
            </a:r>
            <a:endParaRPr lang="en-US" sz="2000" dirty="0"/>
          </a:p>
        </p:txBody>
      </p:sp>
      <p:sp>
        <p:nvSpPr>
          <p:cNvPr id="9" name="Text 7"/>
          <p:cNvSpPr txBox="1"/>
          <p:nvPr/>
        </p:nvSpPr>
        <p:spPr>
          <a:xfrm>
            <a:off x="7086600" y="3474720"/>
            <a:ext cx="4206240" cy="274320"/>
          </a:xfrm>
          <a:prstGeom prst="rect">
            <a:avLst/>
          </a:prstGeom>
          <a:noFill/>
          <a:ln/>
        </p:spPr>
        <p:txBody>
          <a:bodyPr wrap="square" lIns="0" tIns="0" rIns="0" bIns="0" rtlCol="0" anchor="ctr"/>
          <a:lstStyle/>
          <a:p>
            <a:pPr algn="ctr" indent="0" marL="0">
              <a:buNone/>
            </a:pPr>
            <a:r>
              <a:rPr lang="en-US" sz="1150" b="1" spc="200" kern="0" dirty="0">
                <a:solidFill>
                  <a:srgbClr val="94A3C8"/>
                </a:solidFill>
                <a:latin typeface="Calibri" pitchFamily="34" charset="0"/>
                <a:ea typeface="Calibri" pitchFamily="34" charset="-122"/>
                <a:cs typeface="Calibri" pitchFamily="34" charset="-120"/>
              </a:rPr>
              <a:t>ALL THE DYNAMICS OUT</a:t>
            </a:r>
            <a:endParaRPr lang="en-US" sz="1150" dirty="0"/>
          </a:p>
        </p:txBody>
      </p:sp>
      <p:sp>
        <p:nvSpPr>
          <p:cNvPr id="10" name="Text 8"/>
          <p:cNvSpPr txBox="1"/>
          <p:nvPr/>
        </p:nvSpPr>
        <p:spPr>
          <a:xfrm>
            <a:off x="7086600" y="3794760"/>
            <a:ext cx="4206240" cy="777240"/>
          </a:xfrm>
          <a:prstGeom prst="rect">
            <a:avLst/>
          </a:prstGeom>
          <a:noFill/>
          <a:ln/>
        </p:spPr>
        <p:txBody>
          <a:bodyPr wrap="square" lIns="0" tIns="0" rIns="0" bIns="0" rtlCol="0" anchor="ctr"/>
          <a:lstStyle/>
          <a:p>
            <a:pPr algn="ctr" indent="0" marL="0">
              <a:lnSpc>
                <a:spcPct val="115000"/>
              </a:lnSpc>
              <a:buNone/>
            </a:pPr>
            <a:r>
              <a:rPr lang="en-US" sz="1350" dirty="0">
                <a:solidFill>
                  <a:srgbClr val="5BD1C4"/>
                </a:solidFill>
                <a:latin typeface="Calibri" pitchFamily="34" charset="0"/>
                <a:ea typeface="Calibri" pitchFamily="34" charset="-122"/>
                <a:cs typeface="Calibri" pitchFamily="34" charset="-120"/>
              </a:rPr>
              <a:t>equations of motion  ·  conservation laws  ·  interaction rates  ·  decay probabilities</a:t>
            </a:r>
            <a:endParaRPr lang="en-US" sz="1350" dirty="0"/>
          </a:p>
        </p:txBody>
      </p:sp>
      <p:sp>
        <p:nvSpPr>
          <p:cNvPr id="11" name="Text 9"/>
          <p:cNvSpPr txBox="1"/>
          <p:nvPr/>
        </p:nvSpPr>
        <p:spPr>
          <a:xfrm>
            <a:off x="640080" y="5074920"/>
            <a:ext cx="10908792" cy="457200"/>
          </a:xfrm>
          <a:prstGeom prst="rect">
            <a:avLst/>
          </a:prstGeom>
          <a:noFill/>
          <a:ln/>
        </p:spPr>
        <p:txBody>
          <a:bodyPr wrap="square" lIns="0" tIns="0" rIns="0" bIns="0" rtlCol="0" anchor="ctr"/>
          <a:lstStyle/>
          <a:p>
            <a:pPr indent="0" marL="0">
              <a:buNone/>
            </a:pPr>
            <a:r>
              <a:rPr lang="en-US" sz="1900" b="1" i="1" dirty="0">
                <a:solidFill>
                  <a:srgbClr val="F2B134"/>
                </a:solidFill>
                <a:latin typeface="Cambria" pitchFamily="34" charset="0"/>
                <a:ea typeface="Cambria" pitchFamily="34" charset="-122"/>
                <a:cs typeface="Cambria" pitchFamily="34" charset="-120"/>
              </a:rPr>
              <a:t>The shirt isn't a summary of the Standard Model. It is the Standard Model: everything we know except gravity.</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631"/>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300" b="1" spc="200" kern="0" dirty="0">
                <a:solidFill>
                  <a:srgbClr val="F2B134"/>
                </a:solidFill>
                <a:latin typeface="Calibri" pitchFamily="34" charset="0"/>
                <a:ea typeface="Calibri" pitchFamily="34" charset="-122"/>
                <a:cs typeface="Calibri" pitchFamily="34" charset="-120"/>
              </a:rPr>
              <a:t>WHAT THE LAGRANGIAN IS MADE OF</a:t>
            </a:r>
            <a:endParaRPr lang="en-US" sz="13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600" b="1" dirty="0">
                <a:solidFill>
                  <a:srgbClr val="DCE3F5"/>
                </a:solidFill>
                <a:latin typeface="Cambria" pitchFamily="34" charset="0"/>
                <a:ea typeface="Cambria" pitchFamily="34" charset="-122"/>
                <a:cs typeface="Cambria" pitchFamily="34" charset="-120"/>
              </a:rPr>
              <a:t>Four ideas, one language</a:t>
            </a:r>
            <a:endParaRPr lang="en-US" sz="3600" dirty="0"/>
          </a:p>
        </p:txBody>
      </p:sp>
      <p:sp>
        <p:nvSpPr>
          <p:cNvPr id="4" name="Shape 2"/>
          <p:cNvSpPr/>
          <p:nvPr/>
        </p:nvSpPr>
        <p:spPr>
          <a:xfrm>
            <a:off x="640080" y="1600200"/>
            <a:ext cx="5193792" cy="1536192"/>
          </a:xfrm>
          <a:prstGeom prst="roundRect">
            <a:avLst>
              <a:gd name="adj" fmla="val 5952"/>
            </a:avLst>
          </a:prstGeom>
          <a:solidFill>
            <a:srgbClr val="1A2450"/>
          </a:solidFill>
          <a:ln w="12700">
            <a:solidFill>
              <a:srgbClr val="212C5C"/>
            </a:solidFill>
            <a:prstDash val="solid"/>
          </a:ln>
        </p:spPr>
      </p:sp>
      <p:sp>
        <p:nvSpPr>
          <p:cNvPr id="5" name="Shape 3"/>
          <p:cNvSpPr/>
          <p:nvPr/>
        </p:nvSpPr>
        <p:spPr>
          <a:xfrm>
            <a:off x="914400" y="1874520"/>
            <a:ext cx="402336" cy="402336"/>
          </a:xfrm>
          <a:prstGeom prst="ellipse">
            <a:avLst/>
          </a:prstGeom>
          <a:solidFill>
            <a:srgbClr val="F2B134"/>
          </a:solidFill>
          <a:ln w="12700">
            <a:solidFill>
              <a:srgbClr val="F2B134"/>
            </a:solidFill>
            <a:prstDash val="solid"/>
          </a:ln>
        </p:spPr>
      </p:sp>
      <p:sp>
        <p:nvSpPr>
          <p:cNvPr id="6" name="Text 4"/>
          <p:cNvSpPr txBox="1"/>
          <p:nvPr/>
        </p:nvSpPr>
        <p:spPr>
          <a:xfrm>
            <a:off x="914400" y="1874520"/>
            <a:ext cx="402336" cy="402336"/>
          </a:xfrm>
          <a:prstGeom prst="rect">
            <a:avLst/>
          </a:prstGeom>
          <a:noFill/>
          <a:ln/>
        </p:spPr>
        <p:txBody>
          <a:bodyPr wrap="square" lIns="0" tIns="0" rIns="0" bIns="0" rtlCol="0" anchor="ctr"/>
          <a:lstStyle/>
          <a:p>
            <a:pPr algn="ctr" indent="0" marL="0">
              <a:buNone/>
            </a:pPr>
            <a:r>
              <a:rPr lang="en-US" sz="1500" b="1" dirty="0">
                <a:solidFill>
                  <a:srgbClr val="0E1631"/>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481328" y="1837944"/>
            <a:ext cx="4114800" cy="320040"/>
          </a:xfrm>
          <a:prstGeom prst="rect">
            <a:avLst/>
          </a:prstGeom>
          <a:noFill/>
          <a:ln/>
        </p:spPr>
        <p:txBody>
          <a:bodyPr wrap="square" lIns="0" tIns="0" rIns="0" bIns="0" rtlCol="0" anchor="ctr"/>
          <a:lstStyle/>
          <a:p>
            <a:pPr indent="0" marL="0">
              <a:buNone/>
            </a:pPr>
            <a:r>
              <a:rPr lang="en-US" sz="1900" b="1" dirty="0">
                <a:solidFill>
                  <a:srgbClr val="F2B134"/>
                </a:solidFill>
                <a:latin typeface="Cambria" pitchFamily="34" charset="0"/>
                <a:ea typeface="Cambria" pitchFamily="34" charset="-122"/>
                <a:cs typeface="Cambria" pitchFamily="34" charset="-120"/>
              </a:rPr>
              <a:t>Newtonian mechanics</a:t>
            </a:r>
            <a:endParaRPr lang="en-US" sz="1900" dirty="0"/>
          </a:p>
        </p:txBody>
      </p:sp>
      <p:sp>
        <p:nvSpPr>
          <p:cNvPr id="8" name="Text 6"/>
          <p:cNvSpPr txBox="1"/>
          <p:nvPr/>
        </p:nvSpPr>
        <p:spPr>
          <a:xfrm>
            <a:off x="1481328" y="2221992"/>
            <a:ext cx="4114800" cy="777240"/>
          </a:xfrm>
          <a:prstGeom prst="rect">
            <a:avLst/>
          </a:prstGeom>
          <a:noFill/>
          <a:ln/>
        </p:spPr>
        <p:txBody>
          <a:bodyPr wrap="square" lIns="0" tIns="0" rIns="0" bIns="0" rtlCol="0" anchor="ctr"/>
          <a:lstStyle/>
          <a:p>
            <a:pPr indent="0" marL="0">
              <a:lnSpc>
                <a:spcPct val="110000"/>
              </a:lnSpc>
              <a:buNone/>
            </a:pPr>
            <a:r>
              <a:rPr lang="en-US" sz="1350" dirty="0">
                <a:solidFill>
                  <a:srgbClr val="DCE3F5"/>
                </a:solidFill>
                <a:latin typeface="Calibri" pitchFamily="34" charset="0"/>
                <a:ea typeface="Calibri" pitchFamily="34" charset="-122"/>
                <a:cs typeface="Calibri" pitchFamily="34" charset="-120"/>
              </a:rPr>
              <a:t>Bodies with definite positions and momenta. Know the parameters, know where it goes.</a:t>
            </a:r>
            <a:endParaRPr lang="en-US" sz="1350" dirty="0"/>
          </a:p>
        </p:txBody>
      </p:sp>
      <p:sp>
        <p:nvSpPr>
          <p:cNvPr id="9" name="Shape 7"/>
          <p:cNvSpPr/>
          <p:nvPr/>
        </p:nvSpPr>
        <p:spPr>
          <a:xfrm>
            <a:off x="6355080" y="1600200"/>
            <a:ext cx="5193792" cy="1536192"/>
          </a:xfrm>
          <a:prstGeom prst="roundRect">
            <a:avLst>
              <a:gd name="adj" fmla="val 5952"/>
            </a:avLst>
          </a:prstGeom>
          <a:solidFill>
            <a:srgbClr val="1A2450"/>
          </a:solidFill>
          <a:ln w="12700">
            <a:solidFill>
              <a:srgbClr val="212C5C"/>
            </a:solidFill>
            <a:prstDash val="solid"/>
          </a:ln>
        </p:spPr>
      </p:sp>
      <p:sp>
        <p:nvSpPr>
          <p:cNvPr id="10" name="Shape 8"/>
          <p:cNvSpPr/>
          <p:nvPr/>
        </p:nvSpPr>
        <p:spPr>
          <a:xfrm>
            <a:off x="6629400" y="1874520"/>
            <a:ext cx="402336" cy="402336"/>
          </a:xfrm>
          <a:prstGeom prst="ellipse">
            <a:avLst/>
          </a:prstGeom>
          <a:solidFill>
            <a:srgbClr val="F2B134"/>
          </a:solidFill>
          <a:ln w="12700">
            <a:solidFill>
              <a:srgbClr val="F2B134"/>
            </a:solidFill>
            <a:prstDash val="solid"/>
          </a:ln>
        </p:spPr>
      </p:sp>
      <p:sp>
        <p:nvSpPr>
          <p:cNvPr id="11" name="Text 9"/>
          <p:cNvSpPr txBox="1"/>
          <p:nvPr/>
        </p:nvSpPr>
        <p:spPr>
          <a:xfrm>
            <a:off x="6629400" y="1874520"/>
            <a:ext cx="402336" cy="402336"/>
          </a:xfrm>
          <a:prstGeom prst="rect">
            <a:avLst/>
          </a:prstGeom>
          <a:noFill/>
          <a:ln/>
        </p:spPr>
        <p:txBody>
          <a:bodyPr wrap="square" lIns="0" tIns="0" rIns="0" bIns="0" rtlCol="0" anchor="ctr"/>
          <a:lstStyle/>
          <a:p>
            <a:pPr algn="ctr" indent="0" marL="0">
              <a:buNone/>
            </a:pPr>
            <a:r>
              <a:rPr lang="en-US" sz="1500" b="1" dirty="0">
                <a:solidFill>
                  <a:srgbClr val="0E1631"/>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7196328" y="1837944"/>
            <a:ext cx="4114800" cy="320040"/>
          </a:xfrm>
          <a:prstGeom prst="rect">
            <a:avLst/>
          </a:prstGeom>
          <a:noFill/>
          <a:ln/>
        </p:spPr>
        <p:txBody>
          <a:bodyPr wrap="square" lIns="0" tIns="0" rIns="0" bIns="0" rtlCol="0" anchor="ctr"/>
          <a:lstStyle/>
          <a:p>
            <a:pPr indent="0" marL="0">
              <a:buNone/>
            </a:pPr>
            <a:r>
              <a:rPr lang="en-US" sz="1900" b="1" dirty="0">
                <a:solidFill>
                  <a:srgbClr val="F2B134"/>
                </a:solidFill>
                <a:latin typeface="Cambria" pitchFamily="34" charset="0"/>
                <a:ea typeface="Cambria" pitchFamily="34" charset="-122"/>
                <a:cs typeface="Cambria" pitchFamily="34" charset="-120"/>
              </a:rPr>
              <a:t>Relativity</a:t>
            </a:r>
            <a:endParaRPr lang="en-US" sz="1900" dirty="0"/>
          </a:p>
        </p:txBody>
      </p:sp>
      <p:sp>
        <p:nvSpPr>
          <p:cNvPr id="13" name="Text 11"/>
          <p:cNvSpPr txBox="1"/>
          <p:nvPr/>
        </p:nvSpPr>
        <p:spPr>
          <a:xfrm>
            <a:off x="7196328" y="2221992"/>
            <a:ext cx="4114800" cy="777240"/>
          </a:xfrm>
          <a:prstGeom prst="rect">
            <a:avLst/>
          </a:prstGeom>
          <a:noFill/>
          <a:ln/>
        </p:spPr>
        <p:txBody>
          <a:bodyPr wrap="square" lIns="0" tIns="0" rIns="0" bIns="0" rtlCol="0" anchor="ctr"/>
          <a:lstStyle/>
          <a:p>
            <a:pPr indent="0" marL="0">
              <a:lnSpc>
                <a:spcPct val="110000"/>
              </a:lnSpc>
              <a:buNone/>
            </a:pPr>
            <a:r>
              <a:rPr lang="en-US" sz="1350" dirty="0">
                <a:solidFill>
                  <a:srgbClr val="DCE3F5"/>
                </a:solidFill>
                <a:latin typeface="Calibri" pitchFamily="34" charset="0"/>
                <a:ea typeface="Calibri" pitchFamily="34" charset="-122"/>
                <a:cs typeface="Calibri" pitchFamily="34" charset="-120"/>
              </a:rPr>
              <a:t>Go fast and adding velocities breaks. The real fact is a speed limit built into spacetime.</a:t>
            </a:r>
            <a:endParaRPr lang="en-US" sz="1350" dirty="0"/>
          </a:p>
        </p:txBody>
      </p:sp>
      <p:sp>
        <p:nvSpPr>
          <p:cNvPr id="14" name="Shape 12"/>
          <p:cNvSpPr/>
          <p:nvPr/>
        </p:nvSpPr>
        <p:spPr>
          <a:xfrm>
            <a:off x="640080" y="3337560"/>
            <a:ext cx="5193792" cy="1536192"/>
          </a:xfrm>
          <a:prstGeom prst="roundRect">
            <a:avLst>
              <a:gd name="adj" fmla="val 5952"/>
            </a:avLst>
          </a:prstGeom>
          <a:solidFill>
            <a:srgbClr val="1A2450"/>
          </a:solidFill>
          <a:ln w="12700">
            <a:solidFill>
              <a:srgbClr val="212C5C"/>
            </a:solidFill>
            <a:prstDash val="solid"/>
          </a:ln>
        </p:spPr>
      </p:sp>
      <p:sp>
        <p:nvSpPr>
          <p:cNvPr id="15" name="Shape 13"/>
          <p:cNvSpPr/>
          <p:nvPr/>
        </p:nvSpPr>
        <p:spPr>
          <a:xfrm>
            <a:off x="914400" y="3611880"/>
            <a:ext cx="402336" cy="402336"/>
          </a:xfrm>
          <a:prstGeom prst="ellipse">
            <a:avLst/>
          </a:prstGeom>
          <a:solidFill>
            <a:srgbClr val="F2B134"/>
          </a:solidFill>
          <a:ln w="12700">
            <a:solidFill>
              <a:srgbClr val="F2B134"/>
            </a:solidFill>
            <a:prstDash val="solid"/>
          </a:ln>
        </p:spPr>
      </p:sp>
      <p:sp>
        <p:nvSpPr>
          <p:cNvPr id="16" name="Text 14"/>
          <p:cNvSpPr txBox="1"/>
          <p:nvPr/>
        </p:nvSpPr>
        <p:spPr>
          <a:xfrm>
            <a:off x="914400" y="3611880"/>
            <a:ext cx="402336" cy="402336"/>
          </a:xfrm>
          <a:prstGeom prst="rect">
            <a:avLst/>
          </a:prstGeom>
          <a:noFill/>
          <a:ln/>
        </p:spPr>
        <p:txBody>
          <a:bodyPr wrap="square" lIns="0" tIns="0" rIns="0" bIns="0" rtlCol="0" anchor="ctr"/>
          <a:lstStyle/>
          <a:p>
            <a:pPr algn="ctr" indent="0" marL="0">
              <a:buNone/>
            </a:pPr>
            <a:r>
              <a:rPr lang="en-US" sz="1500" b="1" dirty="0">
                <a:solidFill>
                  <a:srgbClr val="0E1631"/>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1481328" y="3575304"/>
            <a:ext cx="4114800" cy="320040"/>
          </a:xfrm>
          <a:prstGeom prst="rect">
            <a:avLst/>
          </a:prstGeom>
          <a:noFill/>
          <a:ln/>
        </p:spPr>
        <p:txBody>
          <a:bodyPr wrap="square" lIns="0" tIns="0" rIns="0" bIns="0" rtlCol="0" anchor="ctr"/>
          <a:lstStyle/>
          <a:p>
            <a:pPr indent="0" marL="0">
              <a:buNone/>
            </a:pPr>
            <a:r>
              <a:rPr lang="en-US" sz="1900" b="1" dirty="0">
                <a:solidFill>
                  <a:srgbClr val="F2B134"/>
                </a:solidFill>
                <a:latin typeface="Cambria" pitchFamily="34" charset="0"/>
                <a:ea typeface="Cambria" pitchFamily="34" charset="-122"/>
                <a:cs typeface="Cambria" pitchFamily="34" charset="-120"/>
              </a:rPr>
              <a:t>Fields</a:t>
            </a:r>
            <a:endParaRPr lang="en-US" sz="1900" dirty="0"/>
          </a:p>
        </p:txBody>
      </p:sp>
      <p:sp>
        <p:nvSpPr>
          <p:cNvPr id="18" name="Text 16"/>
          <p:cNvSpPr txBox="1"/>
          <p:nvPr/>
        </p:nvSpPr>
        <p:spPr>
          <a:xfrm>
            <a:off x="1481328" y="3959352"/>
            <a:ext cx="4114800" cy="777240"/>
          </a:xfrm>
          <a:prstGeom prst="rect">
            <a:avLst/>
          </a:prstGeom>
          <a:noFill/>
          <a:ln/>
        </p:spPr>
        <p:txBody>
          <a:bodyPr wrap="square" lIns="0" tIns="0" rIns="0" bIns="0" rtlCol="0" anchor="ctr"/>
          <a:lstStyle/>
          <a:p>
            <a:pPr indent="0" marL="0">
              <a:lnSpc>
                <a:spcPct val="110000"/>
              </a:lnSpc>
              <a:buNone/>
            </a:pPr>
            <a:r>
              <a:rPr lang="en-US" sz="1350" dirty="0">
                <a:solidFill>
                  <a:srgbClr val="DCE3F5"/>
                </a:solidFill>
                <a:latin typeface="Calibri" pitchFamily="34" charset="0"/>
                <a:ea typeface="Calibri" pitchFamily="34" charset="-122"/>
                <a:cs typeface="Calibri" pitchFamily="34" charset="-120"/>
              </a:rPr>
              <a:t>Electricity and magnetism kill action-at-a-distance. Charges talk to a field — and it moves at that same limit.</a:t>
            </a:r>
            <a:endParaRPr lang="en-US" sz="1350" dirty="0"/>
          </a:p>
        </p:txBody>
      </p:sp>
      <p:sp>
        <p:nvSpPr>
          <p:cNvPr id="19" name="Shape 17"/>
          <p:cNvSpPr/>
          <p:nvPr/>
        </p:nvSpPr>
        <p:spPr>
          <a:xfrm>
            <a:off x="6355080" y="3337560"/>
            <a:ext cx="5193792" cy="1536192"/>
          </a:xfrm>
          <a:prstGeom prst="roundRect">
            <a:avLst>
              <a:gd name="adj" fmla="val 5952"/>
            </a:avLst>
          </a:prstGeom>
          <a:solidFill>
            <a:srgbClr val="1A2450"/>
          </a:solidFill>
          <a:ln w="12700">
            <a:solidFill>
              <a:srgbClr val="212C5C"/>
            </a:solidFill>
            <a:prstDash val="solid"/>
          </a:ln>
        </p:spPr>
      </p:sp>
      <p:sp>
        <p:nvSpPr>
          <p:cNvPr id="20" name="Shape 18"/>
          <p:cNvSpPr/>
          <p:nvPr/>
        </p:nvSpPr>
        <p:spPr>
          <a:xfrm>
            <a:off x="6629400" y="3611880"/>
            <a:ext cx="402336" cy="402336"/>
          </a:xfrm>
          <a:prstGeom prst="ellipse">
            <a:avLst/>
          </a:prstGeom>
          <a:solidFill>
            <a:srgbClr val="F2B134"/>
          </a:solidFill>
          <a:ln w="12700">
            <a:solidFill>
              <a:srgbClr val="F2B134"/>
            </a:solidFill>
            <a:prstDash val="solid"/>
          </a:ln>
        </p:spPr>
      </p:sp>
      <p:sp>
        <p:nvSpPr>
          <p:cNvPr id="21" name="Text 19"/>
          <p:cNvSpPr txBox="1"/>
          <p:nvPr/>
        </p:nvSpPr>
        <p:spPr>
          <a:xfrm>
            <a:off x="6629400" y="3611880"/>
            <a:ext cx="402336" cy="402336"/>
          </a:xfrm>
          <a:prstGeom prst="rect">
            <a:avLst/>
          </a:prstGeom>
          <a:noFill/>
          <a:ln/>
        </p:spPr>
        <p:txBody>
          <a:bodyPr wrap="square" lIns="0" tIns="0" rIns="0" bIns="0" rtlCol="0" anchor="ctr"/>
          <a:lstStyle/>
          <a:p>
            <a:pPr algn="ctr" indent="0" marL="0">
              <a:buNone/>
            </a:pPr>
            <a:r>
              <a:rPr lang="en-US" sz="1500" b="1" dirty="0">
                <a:solidFill>
                  <a:srgbClr val="0E1631"/>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7196328" y="3575304"/>
            <a:ext cx="4114800" cy="320040"/>
          </a:xfrm>
          <a:prstGeom prst="rect">
            <a:avLst/>
          </a:prstGeom>
          <a:noFill/>
          <a:ln/>
        </p:spPr>
        <p:txBody>
          <a:bodyPr wrap="square" lIns="0" tIns="0" rIns="0" bIns="0" rtlCol="0" anchor="ctr"/>
          <a:lstStyle/>
          <a:p>
            <a:pPr indent="0" marL="0">
              <a:buNone/>
            </a:pPr>
            <a:r>
              <a:rPr lang="en-US" sz="1900" b="1" dirty="0">
                <a:solidFill>
                  <a:srgbClr val="F2B134"/>
                </a:solidFill>
                <a:latin typeface="Cambria" pitchFamily="34" charset="0"/>
                <a:ea typeface="Cambria" pitchFamily="34" charset="-122"/>
                <a:cs typeface="Cambria" pitchFamily="34" charset="-120"/>
              </a:rPr>
              <a:t>Quantum mechanics</a:t>
            </a:r>
            <a:endParaRPr lang="en-US" sz="1900" dirty="0"/>
          </a:p>
        </p:txBody>
      </p:sp>
      <p:sp>
        <p:nvSpPr>
          <p:cNvPr id="23" name="Text 21"/>
          <p:cNvSpPr txBox="1"/>
          <p:nvPr/>
        </p:nvSpPr>
        <p:spPr>
          <a:xfrm>
            <a:off x="7196328" y="3959352"/>
            <a:ext cx="4114800" cy="777240"/>
          </a:xfrm>
          <a:prstGeom prst="rect">
            <a:avLst/>
          </a:prstGeom>
          <a:noFill/>
          <a:ln/>
        </p:spPr>
        <p:txBody>
          <a:bodyPr wrap="square" lIns="0" tIns="0" rIns="0" bIns="0" rtlCol="0" anchor="ctr"/>
          <a:lstStyle/>
          <a:p>
            <a:pPr indent="0" marL="0">
              <a:lnSpc>
                <a:spcPct val="110000"/>
              </a:lnSpc>
              <a:buNone/>
            </a:pPr>
            <a:r>
              <a:rPr lang="en-US" sz="1350" dirty="0">
                <a:solidFill>
                  <a:srgbClr val="DCE3F5"/>
                </a:solidFill>
                <a:latin typeface="Calibri" pitchFamily="34" charset="0"/>
                <a:ea typeface="Calibri" pitchFamily="34" charset="-122"/>
                <a:cs typeface="Calibri" pitchFamily="34" charset="-120"/>
              </a:rPr>
              <a:t>Go small and you cannot pin the parameters down. You only predict probabilities.</a:t>
            </a:r>
            <a:endParaRPr lang="en-US" sz="1350" dirty="0"/>
          </a:p>
        </p:txBody>
      </p:sp>
      <p:sp>
        <p:nvSpPr>
          <p:cNvPr id="24" name="Text 22"/>
          <p:cNvSpPr txBox="1"/>
          <p:nvPr/>
        </p:nvSpPr>
        <p:spPr>
          <a:xfrm>
            <a:off x="640080" y="5193792"/>
            <a:ext cx="10908792" cy="548640"/>
          </a:xfrm>
          <a:prstGeom prst="rect">
            <a:avLst/>
          </a:prstGeom>
          <a:noFill/>
          <a:ln/>
        </p:spPr>
        <p:txBody>
          <a:bodyPr wrap="square" lIns="0" tIns="0" rIns="0" bIns="0" rtlCol="0" anchor="ctr"/>
          <a:lstStyle/>
          <a:p>
            <a:pPr indent="0" marL="0">
              <a:buNone/>
            </a:pPr>
            <a:r>
              <a:rPr lang="en-US" sz="1500" i="1" dirty="0">
                <a:solidFill>
                  <a:srgbClr val="5BD1C4"/>
                </a:solidFill>
                <a:latin typeface="Calibri" pitchFamily="34" charset="0"/>
                <a:ea typeface="Calibri" pitchFamily="34" charset="-122"/>
                <a:cs typeface="Calibri" pitchFamily="34" charset="-120"/>
              </a:rPr>
              <a:t>Put all four together and you get quantum field theory: fields are fundamental, particles are their excitations, and you compute probabilities.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631"/>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300" b="1" spc="200" kern="0" dirty="0">
                <a:solidFill>
                  <a:srgbClr val="F2B134"/>
                </a:solidFill>
                <a:latin typeface="Calibri" pitchFamily="34" charset="0"/>
                <a:ea typeface="Calibri" pitchFamily="34" charset="-122"/>
                <a:cs typeface="Calibri" pitchFamily="34" charset="-120"/>
              </a:rPr>
              <a:t>STEP 1</a:t>
            </a:r>
            <a:endParaRPr lang="en-US" sz="13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600" b="1" dirty="0">
                <a:solidFill>
                  <a:srgbClr val="DCE3F5"/>
                </a:solidFill>
                <a:latin typeface="Cambria" pitchFamily="34" charset="0"/>
                <a:ea typeface="Cambria" pitchFamily="34" charset="-122"/>
                <a:cs typeface="Cambria" pitchFamily="34" charset="-120"/>
              </a:rPr>
              <a:t>Start with the matter fields</a:t>
            </a:r>
            <a:endParaRPr lang="en-US" sz="3600" dirty="0"/>
          </a:p>
        </p:txBody>
      </p:sp>
      <p:sp>
        <p:nvSpPr>
          <p:cNvPr id="4" name="Text 2"/>
          <p:cNvSpPr txBox="1"/>
          <p:nvPr/>
        </p:nvSpPr>
        <p:spPr>
          <a:xfrm>
            <a:off x="640080" y="1783080"/>
            <a:ext cx="4206240" cy="2743200"/>
          </a:xfrm>
          <a:prstGeom prst="rect">
            <a:avLst/>
          </a:prstGeom>
          <a:noFill/>
          <a:ln/>
        </p:spPr>
        <p:txBody>
          <a:bodyPr wrap="square" lIns="0" tIns="0" rIns="0" bIns="0" rtlCol="0" anchor="ctr"/>
          <a:lstStyle/>
          <a:p>
            <a:pPr marL="342900" indent="-342900">
              <a:spcAft>
                <a:spcPts val="1200"/>
              </a:spcAft>
              <a:buSzPct val="100000"/>
              <a:buChar char="•"/>
            </a:pPr>
            <a:r>
              <a:rPr lang="en-US" sz="1550" dirty="0">
                <a:solidFill>
                  <a:srgbClr val="DCE3F5"/>
                </a:solidFill>
                <a:latin typeface="Calibri" pitchFamily="34" charset="0"/>
                <a:ea typeface="Calibri" pitchFamily="34" charset="-122"/>
                <a:cs typeface="Calibri" pitchFamily="34" charset="-120"/>
              </a:rPr>
              <a:t>Write down the matter and nothing else.</a:t>
            </a:r>
            <a:endParaRPr lang="en-US" sz="1550" dirty="0"/>
          </a:p>
          <a:p>
            <a:pPr marL="342900" indent="-342900">
              <a:spcAft>
                <a:spcPts val="1200"/>
              </a:spcAft>
              <a:buSzPct val="100000"/>
              <a:buChar char="•"/>
            </a:pPr>
            <a:r>
              <a:rPr lang="en-US" sz="1550" dirty="0">
                <a:solidFill>
                  <a:srgbClr val="DCE3F5"/>
                </a:solidFill>
                <a:latin typeface="Calibri" pitchFamily="34" charset="0"/>
                <a:ea typeface="Calibri" pitchFamily="34" charset="-122"/>
                <a:cs typeface="Calibri" pitchFamily="34" charset="-120"/>
              </a:rPr>
              <a:t>Three generations, each with quarks and leptons.</a:t>
            </a:r>
            <a:endParaRPr lang="en-US" sz="1550" dirty="0"/>
          </a:p>
          <a:p>
            <a:pPr marL="342900" indent="-342900">
              <a:spcAft>
                <a:spcPts val="1200"/>
              </a:spcAft>
              <a:buSzPct val="100000"/>
              <a:buChar char="•"/>
            </a:pPr>
            <a:r>
              <a:rPr lang="en-US" sz="1550" dirty="0">
                <a:solidFill>
                  <a:srgbClr val="DCE3F5"/>
                </a:solidFill>
                <a:latin typeface="Calibri" pitchFamily="34" charset="0"/>
                <a:ea typeface="Calibri" pitchFamily="34" charset="-122"/>
                <a:cs typeface="Calibri" pitchFamily="34" charset="-120"/>
              </a:rPr>
              <a:t>Massless for now — just propagating.</a:t>
            </a:r>
            <a:endParaRPr lang="en-US" sz="1550" dirty="0"/>
          </a:p>
          <a:p>
            <a:pPr marL="342900" indent="-342900">
              <a:spcAft>
                <a:spcPts val="1200"/>
              </a:spcAft>
              <a:buSzPct val="100000"/>
              <a:buChar char="•"/>
            </a:pPr>
            <a:r>
              <a:rPr lang="en-US" sz="1550" dirty="0">
                <a:solidFill>
                  <a:srgbClr val="DCE3F5"/>
                </a:solidFill>
                <a:latin typeface="Calibri" pitchFamily="34" charset="0"/>
                <a:ea typeface="Calibri" pitchFamily="34" charset="-122"/>
                <a:cs typeface="Calibri" pitchFamily="34" charset="-120"/>
              </a:rPr>
              <a:t>This is the ψ on the shirt, plus a derivative for how it moves.</a:t>
            </a:r>
            <a:endParaRPr lang="en-US" sz="1550" dirty="0"/>
          </a:p>
        </p:txBody>
      </p:sp>
      <p:sp>
        <p:nvSpPr>
          <p:cNvPr id="5" name="Text 3"/>
          <p:cNvSpPr txBox="1"/>
          <p:nvPr/>
        </p:nvSpPr>
        <p:spPr>
          <a:xfrm>
            <a:off x="5394960" y="1737360"/>
            <a:ext cx="1874520" cy="274320"/>
          </a:xfrm>
          <a:prstGeom prst="rect">
            <a:avLst/>
          </a:prstGeom>
          <a:noFill/>
          <a:ln/>
        </p:spPr>
        <p:txBody>
          <a:bodyPr wrap="square" lIns="0" tIns="0" rIns="0" bIns="0" rtlCol="0" anchor="ctr"/>
          <a:lstStyle/>
          <a:p>
            <a:pPr algn="ctr" indent="0" marL="0">
              <a:buNone/>
            </a:pPr>
            <a:r>
              <a:rPr lang="en-US" sz="1200" b="1" spc="200" kern="0" dirty="0">
                <a:solidFill>
                  <a:srgbClr val="94A3C8"/>
                </a:solidFill>
                <a:latin typeface="Calibri" pitchFamily="34" charset="0"/>
                <a:ea typeface="Calibri" pitchFamily="34" charset="-122"/>
                <a:cs typeface="Calibri" pitchFamily="34" charset="-120"/>
              </a:rPr>
              <a:t>I</a:t>
            </a:r>
            <a:endParaRPr lang="en-US" sz="1200" dirty="0"/>
          </a:p>
        </p:txBody>
      </p:sp>
      <p:sp>
        <p:nvSpPr>
          <p:cNvPr id="6" name="Shape 4"/>
          <p:cNvSpPr/>
          <p:nvPr/>
        </p:nvSpPr>
        <p:spPr>
          <a:xfrm>
            <a:off x="5394960" y="2103120"/>
            <a:ext cx="1874520" cy="1188720"/>
          </a:xfrm>
          <a:prstGeom prst="roundRect">
            <a:avLst>
              <a:gd name="adj" fmla="val 6154"/>
            </a:avLst>
          </a:prstGeom>
          <a:solidFill>
            <a:srgbClr val="1A2450"/>
          </a:solidFill>
          <a:ln w="12700">
            <a:solidFill>
              <a:srgbClr val="F2B134"/>
            </a:solidFill>
            <a:prstDash val="solid"/>
          </a:ln>
        </p:spPr>
      </p:sp>
      <p:sp>
        <p:nvSpPr>
          <p:cNvPr id="7" name="Text 5"/>
          <p:cNvSpPr txBox="1"/>
          <p:nvPr/>
        </p:nvSpPr>
        <p:spPr>
          <a:xfrm>
            <a:off x="5394960" y="2240280"/>
            <a:ext cx="1874520" cy="228600"/>
          </a:xfrm>
          <a:prstGeom prst="rect">
            <a:avLst/>
          </a:prstGeom>
          <a:noFill/>
          <a:ln/>
        </p:spPr>
        <p:txBody>
          <a:bodyPr wrap="square" lIns="0" tIns="0" rIns="0" bIns="0" rtlCol="0" anchor="ctr"/>
          <a:lstStyle/>
          <a:p>
            <a:pPr algn="ctr" indent="0" marL="0">
              <a:buNone/>
            </a:pPr>
            <a:r>
              <a:rPr lang="en-US" sz="1050" b="1" spc="100" kern="0" dirty="0">
                <a:solidFill>
                  <a:srgbClr val="F2B134"/>
                </a:solidFill>
                <a:latin typeface="Calibri" pitchFamily="34" charset="0"/>
                <a:ea typeface="Calibri" pitchFamily="34" charset="-122"/>
                <a:cs typeface="Calibri" pitchFamily="34" charset="-120"/>
              </a:rPr>
              <a:t>QUARKS</a:t>
            </a:r>
            <a:endParaRPr lang="en-US" sz="1050" dirty="0"/>
          </a:p>
        </p:txBody>
      </p:sp>
      <p:sp>
        <p:nvSpPr>
          <p:cNvPr id="8" name="Text 6"/>
          <p:cNvSpPr txBox="1"/>
          <p:nvPr/>
        </p:nvSpPr>
        <p:spPr>
          <a:xfrm>
            <a:off x="5394960" y="2542032"/>
            <a:ext cx="1874520" cy="548640"/>
          </a:xfrm>
          <a:prstGeom prst="rect">
            <a:avLst/>
          </a:prstGeom>
          <a:noFill/>
          <a:ln/>
        </p:spPr>
        <p:txBody>
          <a:bodyPr wrap="square" lIns="0" tIns="0" rIns="0" bIns="0" rtlCol="0" anchor="ctr"/>
          <a:lstStyle/>
          <a:p>
            <a:pPr algn="ctr" indent="0" marL="0">
              <a:buNone/>
            </a:pPr>
            <a:r>
              <a:rPr lang="en-US" sz="2600" b="1" dirty="0">
                <a:solidFill>
                  <a:srgbClr val="DCE3F5"/>
                </a:solidFill>
                <a:latin typeface="Cambria" pitchFamily="34" charset="0"/>
                <a:ea typeface="Cambria" pitchFamily="34" charset="-122"/>
                <a:cs typeface="Cambria" pitchFamily="34" charset="-120"/>
              </a:rPr>
              <a:t>u  d</a:t>
            </a:r>
            <a:endParaRPr lang="en-US" sz="2600" dirty="0"/>
          </a:p>
        </p:txBody>
      </p:sp>
      <p:sp>
        <p:nvSpPr>
          <p:cNvPr id="9" name="Shape 7"/>
          <p:cNvSpPr/>
          <p:nvPr/>
        </p:nvSpPr>
        <p:spPr>
          <a:xfrm>
            <a:off x="5394960" y="3429000"/>
            <a:ext cx="1874520" cy="1188720"/>
          </a:xfrm>
          <a:prstGeom prst="roundRect">
            <a:avLst>
              <a:gd name="adj" fmla="val 6154"/>
            </a:avLst>
          </a:prstGeom>
          <a:solidFill>
            <a:srgbClr val="1A2450"/>
          </a:solidFill>
          <a:ln w="12700">
            <a:solidFill>
              <a:srgbClr val="5BD1C4"/>
            </a:solidFill>
            <a:prstDash val="solid"/>
          </a:ln>
        </p:spPr>
      </p:sp>
      <p:sp>
        <p:nvSpPr>
          <p:cNvPr id="10" name="Text 8"/>
          <p:cNvSpPr txBox="1"/>
          <p:nvPr/>
        </p:nvSpPr>
        <p:spPr>
          <a:xfrm>
            <a:off x="5394960" y="3566160"/>
            <a:ext cx="1874520" cy="228600"/>
          </a:xfrm>
          <a:prstGeom prst="rect">
            <a:avLst/>
          </a:prstGeom>
          <a:noFill/>
          <a:ln/>
        </p:spPr>
        <p:txBody>
          <a:bodyPr wrap="square" lIns="0" tIns="0" rIns="0" bIns="0" rtlCol="0" anchor="ctr"/>
          <a:lstStyle/>
          <a:p>
            <a:pPr algn="ctr" indent="0" marL="0">
              <a:buNone/>
            </a:pPr>
            <a:r>
              <a:rPr lang="en-US" sz="1050" b="1" spc="100" kern="0" dirty="0">
                <a:solidFill>
                  <a:srgbClr val="5BD1C4"/>
                </a:solidFill>
                <a:latin typeface="Calibri" pitchFamily="34" charset="0"/>
                <a:ea typeface="Calibri" pitchFamily="34" charset="-122"/>
                <a:cs typeface="Calibri" pitchFamily="34" charset="-120"/>
              </a:rPr>
              <a:t>LEPTONS</a:t>
            </a:r>
            <a:endParaRPr lang="en-US" sz="1050" dirty="0"/>
          </a:p>
        </p:txBody>
      </p:sp>
      <p:sp>
        <p:nvSpPr>
          <p:cNvPr id="11" name="Text 9"/>
          <p:cNvSpPr txBox="1"/>
          <p:nvPr/>
        </p:nvSpPr>
        <p:spPr>
          <a:xfrm>
            <a:off x="5394960" y="3867912"/>
            <a:ext cx="1874520" cy="548640"/>
          </a:xfrm>
          <a:prstGeom prst="rect">
            <a:avLst/>
          </a:prstGeom>
          <a:noFill/>
          <a:ln/>
        </p:spPr>
        <p:txBody>
          <a:bodyPr wrap="square" lIns="0" tIns="0" rIns="0" bIns="0" rtlCol="0" anchor="ctr"/>
          <a:lstStyle/>
          <a:p>
            <a:pPr algn="ctr" indent="0" marL="0">
              <a:buNone/>
            </a:pPr>
            <a:r>
              <a:rPr lang="en-US" sz="2600" b="1" dirty="0">
                <a:solidFill>
                  <a:srgbClr val="DCE3F5"/>
                </a:solidFill>
                <a:latin typeface="Cambria" pitchFamily="34" charset="0"/>
                <a:ea typeface="Cambria" pitchFamily="34" charset="-122"/>
                <a:cs typeface="Cambria" pitchFamily="34" charset="-120"/>
              </a:rPr>
              <a:t>e  ν e</a:t>
            </a:r>
            <a:endParaRPr lang="en-US" sz="2600" dirty="0"/>
          </a:p>
        </p:txBody>
      </p:sp>
      <p:sp>
        <p:nvSpPr>
          <p:cNvPr id="12" name="Text 10"/>
          <p:cNvSpPr txBox="1"/>
          <p:nvPr/>
        </p:nvSpPr>
        <p:spPr>
          <a:xfrm>
            <a:off x="7543800" y="1737360"/>
            <a:ext cx="1874520" cy="274320"/>
          </a:xfrm>
          <a:prstGeom prst="rect">
            <a:avLst/>
          </a:prstGeom>
          <a:noFill/>
          <a:ln/>
        </p:spPr>
        <p:txBody>
          <a:bodyPr wrap="square" lIns="0" tIns="0" rIns="0" bIns="0" rtlCol="0" anchor="ctr"/>
          <a:lstStyle/>
          <a:p>
            <a:pPr algn="ctr" indent="0" marL="0">
              <a:buNone/>
            </a:pPr>
            <a:r>
              <a:rPr lang="en-US" sz="1200" b="1" spc="200" kern="0" dirty="0">
                <a:solidFill>
                  <a:srgbClr val="94A3C8"/>
                </a:solidFill>
                <a:latin typeface="Calibri" pitchFamily="34" charset="0"/>
                <a:ea typeface="Calibri" pitchFamily="34" charset="-122"/>
                <a:cs typeface="Calibri" pitchFamily="34" charset="-120"/>
              </a:rPr>
              <a:t>II</a:t>
            </a:r>
            <a:endParaRPr lang="en-US" sz="1200" dirty="0"/>
          </a:p>
        </p:txBody>
      </p:sp>
      <p:sp>
        <p:nvSpPr>
          <p:cNvPr id="13" name="Shape 11"/>
          <p:cNvSpPr/>
          <p:nvPr/>
        </p:nvSpPr>
        <p:spPr>
          <a:xfrm>
            <a:off x="7543800" y="2103120"/>
            <a:ext cx="1874520" cy="1188720"/>
          </a:xfrm>
          <a:prstGeom prst="roundRect">
            <a:avLst>
              <a:gd name="adj" fmla="val 6154"/>
            </a:avLst>
          </a:prstGeom>
          <a:solidFill>
            <a:srgbClr val="1A2450"/>
          </a:solidFill>
          <a:ln w="12700">
            <a:solidFill>
              <a:srgbClr val="F2B134"/>
            </a:solidFill>
            <a:prstDash val="solid"/>
          </a:ln>
        </p:spPr>
      </p:sp>
      <p:sp>
        <p:nvSpPr>
          <p:cNvPr id="14" name="Text 12"/>
          <p:cNvSpPr txBox="1"/>
          <p:nvPr/>
        </p:nvSpPr>
        <p:spPr>
          <a:xfrm>
            <a:off x="7543800" y="2240280"/>
            <a:ext cx="1874520" cy="228600"/>
          </a:xfrm>
          <a:prstGeom prst="rect">
            <a:avLst/>
          </a:prstGeom>
          <a:noFill/>
          <a:ln/>
        </p:spPr>
        <p:txBody>
          <a:bodyPr wrap="square" lIns="0" tIns="0" rIns="0" bIns="0" rtlCol="0" anchor="ctr"/>
          <a:lstStyle/>
          <a:p>
            <a:pPr algn="ctr" indent="0" marL="0">
              <a:buNone/>
            </a:pPr>
            <a:r>
              <a:rPr lang="en-US" sz="1050" b="1" spc="100" kern="0" dirty="0">
                <a:solidFill>
                  <a:srgbClr val="F2B134"/>
                </a:solidFill>
                <a:latin typeface="Calibri" pitchFamily="34" charset="0"/>
                <a:ea typeface="Calibri" pitchFamily="34" charset="-122"/>
                <a:cs typeface="Calibri" pitchFamily="34" charset="-120"/>
              </a:rPr>
              <a:t>QUARKS</a:t>
            </a:r>
            <a:endParaRPr lang="en-US" sz="1050" dirty="0"/>
          </a:p>
        </p:txBody>
      </p:sp>
      <p:sp>
        <p:nvSpPr>
          <p:cNvPr id="15" name="Text 13"/>
          <p:cNvSpPr txBox="1"/>
          <p:nvPr/>
        </p:nvSpPr>
        <p:spPr>
          <a:xfrm>
            <a:off x="7543800" y="2542032"/>
            <a:ext cx="1874520" cy="548640"/>
          </a:xfrm>
          <a:prstGeom prst="rect">
            <a:avLst/>
          </a:prstGeom>
          <a:noFill/>
          <a:ln/>
        </p:spPr>
        <p:txBody>
          <a:bodyPr wrap="square" lIns="0" tIns="0" rIns="0" bIns="0" rtlCol="0" anchor="ctr"/>
          <a:lstStyle/>
          <a:p>
            <a:pPr algn="ctr" indent="0" marL="0">
              <a:buNone/>
            </a:pPr>
            <a:r>
              <a:rPr lang="en-US" sz="2600" b="1" dirty="0">
                <a:solidFill>
                  <a:srgbClr val="DCE3F5"/>
                </a:solidFill>
                <a:latin typeface="Cambria" pitchFamily="34" charset="0"/>
                <a:ea typeface="Cambria" pitchFamily="34" charset="-122"/>
                <a:cs typeface="Cambria" pitchFamily="34" charset="-120"/>
              </a:rPr>
              <a:t>c  s</a:t>
            </a:r>
            <a:endParaRPr lang="en-US" sz="2600" dirty="0"/>
          </a:p>
        </p:txBody>
      </p:sp>
      <p:sp>
        <p:nvSpPr>
          <p:cNvPr id="16" name="Shape 14"/>
          <p:cNvSpPr/>
          <p:nvPr/>
        </p:nvSpPr>
        <p:spPr>
          <a:xfrm>
            <a:off x="7543800" y="3429000"/>
            <a:ext cx="1874520" cy="1188720"/>
          </a:xfrm>
          <a:prstGeom prst="roundRect">
            <a:avLst>
              <a:gd name="adj" fmla="val 6154"/>
            </a:avLst>
          </a:prstGeom>
          <a:solidFill>
            <a:srgbClr val="1A2450"/>
          </a:solidFill>
          <a:ln w="12700">
            <a:solidFill>
              <a:srgbClr val="5BD1C4"/>
            </a:solidFill>
            <a:prstDash val="solid"/>
          </a:ln>
        </p:spPr>
      </p:sp>
      <p:sp>
        <p:nvSpPr>
          <p:cNvPr id="17" name="Text 15"/>
          <p:cNvSpPr txBox="1"/>
          <p:nvPr/>
        </p:nvSpPr>
        <p:spPr>
          <a:xfrm>
            <a:off x="7543800" y="3566160"/>
            <a:ext cx="1874520" cy="228600"/>
          </a:xfrm>
          <a:prstGeom prst="rect">
            <a:avLst/>
          </a:prstGeom>
          <a:noFill/>
          <a:ln/>
        </p:spPr>
        <p:txBody>
          <a:bodyPr wrap="square" lIns="0" tIns="0" rIns="0" bIns="0" rtlCol="0" anchor="ctr"/>
          <a:lstStyle/>
          <a:p>
            <a:pPr algn="ctr" indent="0" marL="0">
              <a:buNone/>
            </a:pPr>
            <a:r>
              <a:rPr lang="en-US" sz="1050" b="1" spc="100" kern="0" dirty="0">
                <a:solidFill>
                  <a:srgbClr val="5BD1C4"/>
                </a:solidFill>
                <a:latin typeface="Calibri" pitchFamily="34" charset="0"/>
                <a:ea typeface="Calibri" pitchFamily="34" charset="-122"/>
                <a:cs typeface="Calibri" pitchFamily="34" charset="-120"/>
              </a:rPr>
              <a:t>LEPTONS</a:t>
            </a:r>
            <a:endParaRPr lang="en-US" sz="1050" dirty="0"/>
          </a:p>
        </p:txBody>
      </p:sp>
      <p:sp>
        <p:nvSpPr>
          <p:cNvPr id="18" name="Text 16"/>
          <p:cNvSpPr txBox="1"/>
          <p:nvPr/>
        </p:nvSpPr>
        <p:spPr>
          <a:xfrm>
            <a:off x="7543800" y="3867912"/>
            <a:ext cx="1874520" cy="548640"/>
          </a:xfrm>
          <a:prstGeom prst="rect">
            <a:avLst/>
          </a:prstGeom>
          <a:noFill/>
          <a:ln/>
        </p:spPr>
        <p:txBody>
          <a:bodyPr wrap="square" lIns="0" tIns="0" rIns="0" bIns="0" rtlCol="0" anchor="ctr"/>
          <a:lstStyle/>
          <a:p>
            <a:pPr algn="ctr" indent="0" marL="0">
              <a:buNone/>
            </a:pPr>
            <a:r>
              <a:rPr lang="en-US" sz="2600" b="1" dirty="0">
                <a:solidFill>
                  <a:srgbClr val="DCE3F5"/>
                </a:solidFill>
                <a:latin typeface="Cambria" pitchFamily="34" charset="0"/>
                <a:ea typeface="Cambria" pitchFamily="34" charset="-122"/>
                <a:cs typeface="Cambria" pitchFamily="34" charset="-120"/>
              </a:rPr>
              <a:t>μ  ν μ</a:t>
            </a:r>
            <a:endParaRPr lang="en-US" sz="2600" dirty="0"/>
          </a:p>
        </p:txBody>
      </p:sp>
      <p:sp>
        <p:nvSpPr>
          <p:cNvPr id="19" name="Text 17"/>
          <p:cNvSpPr txBox="1"/>
          <p:nvPr/>
        </p:nvSpPr>
        <p:spPr>
          <a:xfrm>
            <a:off x="9692640" y="1737360"/>
            <a:ext cx="1874520" cy="274320"/>
          </a:xfrm>
          <a:prstGeom prst="rect">
            <a:avLst/>
          </a:prstGeom>
          <a:noFill/>
          <a:ln/>
        </p:spPr>
        <p:txBody>
          <a:bodyPr wrap="square" lIns="0" tIns="0" rIns="0" bIns="0" rtlCol="0" anchor="ctr"/>
          <a:lstStyle/>
          <a:p>
            <a:pPr algn="ctr" indent="0" marL="0">
              <a:buNone/>
            </a:pPr>
            <a:r>
              <a:rPr lang="en-US" sz="1200" b="1" spc="200" kern="0" dirty="0">
                <a:solidFill>
                  <a:srgbClr val="94A3C8"/>
                </a:solidFill>
                <a:latin typeface="Calibri" pitchFamily="34" charset="0"/>
                <a:ea typeface="Calibri" pitchFamily="34" charset="-122"/>
                <a:cs typeface="Calibri" pitchFamily="34" charset="-120"/>
              </a:rPr>
              <a:t>III</a:t>
            </a:r>
            <a:endParaRPr lang="en-US" sz="1200" dirty="0"/>
          </a:p>
        </p:txBody>
      </p:sp>
      <p:sp>
        <p:nvSpPr>
          <p:cNvPr id="20" name="Shape 18"/>
          <p:cNvSpPr/>
          <p:nvPr/>
        </p:nvSpPr>
        <p:spPr>
          <a:xfrm>
            <a:off x="9692640" y="2103120"/>
            <a:ext cx="1874520" cy="1188720"/>
          </a:xfrm>
          <a:prstGeom prst="roundRect">
            <a:avLst>
              <a:gd name="adj" fmla="val 6154"/>
            </a:avLst>
          </a:prstGeom>
          <a:solidFill>
            <a:srgbClr val="1A2450"/>
          </a:solidFill>
          <a:ln w="12700">
            <a:solidFill>
              <a:srgbClr val="F2B134"/>
            </a:solidFill>
            <a:prstDash val="solid"/>
          </a:ln>
        </p:spPr>
      </p:sp>
      <p:sp>
        <p:nvSpPr>
          <p:cNvPr id="21" name="Text 19"/>
          <p:cNvSpPr txBox="1"/>
          <p:nvPr/>
        </p:nvSpPr>
        <p:spPr>
          <a:xfrm>
            <a:off x="9692640" y="2240280"/>
            <a:ext cx="1874520" cy="228600"/>
          </a:xfrm>
          <a:prstGeom prst="rect">
            <a:avLst/>
          </a:prstGeom>
          <a:noFill/>
          <a:ln/>
        </p:spPr>
        <p:txBody>
          <a:bodyPr wrap="square" lIns="0" tIns="0" rIns="0" bIns="0" rtlCol="0" anchor="ctr"/>
          <a:lstStyle/>
          <a:p>
            <a:pPr algn="ctr" indent="0" marL="0">
              <a:buNone/>
            </a:pPr>
            <a:r>
              <a:rPr lang="en-US" sz="1050" b="1" spc="100" kern="0" dirty="0">
                <a:solidFill>
                  <a:srgbClr val="F2B134"/>
                </a:solidFill>
                <a:latin typeface="Calibri" pitchFamily="34" charset="0"/>
                <a:ea typeface="Calibri" pitchFamily="34" charset="-122"/>
                <a:cs typeface="Calibri" pitchFamily="34" charset="-120"/>
              </a:rPr>
              <a:t>QUARKS</a:t>
            </a:r>
            <a:endParaRPr lang="en-US" sz="1050" dirty="0"/>
          </a:p>
        </p:txBody>
      </p:sp>
      <p:sp>
        <p:nvSpPr>
          <p:cNvPr id="22" name="Text 20"/>
          <p:cNvSpPr txBox="1"/>
          <p:nvPr/>
        </p:nvSpPr>
        <p:spPr>
          <a:xfrm>
            <a:off x="9692640" y="2542032"/>
            <a:ext cx="1874520" cy="548640"/>
          </a:xfrm>
          <a:prstGeom prst="rect">
            <a:avLst/>
          </a:prstGeom>
          <a:noFill/>
          <a:ln/>
        </p:spPr>
        <p:txBody>
          <a:bodyPr wrap="square" lIns="0" tIns="0" rIns="0" bIns="0" rtlCol="0" anchor="ctr"/>
          <a:lstStyle/>
          <a:p>
            <a:pPr algn="ctr" indent="0" marL="0">
              <a:buNone/>
            </a:pPr>
            <a:r>
              <a:rPr lang="en-US" sz="2600" b="1" dirty="0">
                <a:solidFill>
                  <a:srgbClr val="DCE3F5"/>
                </a:solidFill>
                <a:latin typeface="Cambria" pitchFamily="34" charset="0"/>
                <a:ea typeface="Cambria" pitchFamily="34" charset="-122"/>
                <a:cs typeface="Cambria" pitchFamily="34" charset="-120"/>
              </a:rPr>
              <a:t>t  b</a:t>
            </a:r>
            <a:endParaRPr lang="en-US" sz="2600" dirty="0"/>
          </a:p>
        </p:txBody>
      </p:sp>
      <p:sp>
        <p:nvSpPr>
          <p:cNvPr id="23" name="Shape 21"/>
          <p:cNvSpPr/>
          <p:nvPr/>
        </p:nvSpPr>
        <p:spPr>
          <a:xfrm>
            <a:off x="9692640" y="3429000"/>
            <a:ext cx="1874520" cy="1188720"/>
          </a:xfrm>
          <a:prstGeom prst="roundRect">
            <a:avLst>
              <a:gd name="adj" fmla="val 6154"/>
            </a:avLst>
          </a:prstGeom>
          <a:solidFill>
            <a:srgbClr val="1A2450"/>
          </a:solidFill>
          <a:ln w="12700">
            <a:solidFill>
              <a:srgbClr val="5BD1C4"/>
            </a:solidFill>
            <a:prstDash val="solid"/>
          </a:ln>
        </p:spPr>
      </p:sp>
      <p:sp>
        <p:nvSpPr>
          <p:cNvPr id="24" name="Text 22"/>
          <p:cNvSpPr txBox="1"/>
          <p:nvPr/>
        </p:nvSpPr>
        <p:spPr>
          <a:xfrm>
            <a:off x="9692640" y="3566160"/>
            <a:ext cx="1874520" cy="228600"/>
          </a:xfrm>
          <a:prstGeom prst="rect">
            <a:avLst/>
          </a:prstGeom>
          <a:noFill/>
          <a:ln/>
        </p:spPr>
        <p:txBody>
          <a:bodyPr wrap="square" lIns="0" tIns="0" rIns="0" bIns="0" rtlCol="0" anchor="ctr"/>
          <a:lstStyle/>
          <a:p>
            <a:pPr algn="ctr" indent="0" marL="0">
              <a:buNone/>
            </a:pPr>
            <a:r>
              <a:rPr lang="en-US" sz="1050" b="1" spc="100" kern="0" dirty="0">
                <a:solidFill>
                  <a:srgbClr val="5BD1C4"/>
                </a:solidFill>
                <a:latin typeface="Calibri" pitchFamily="34" charset="0"/>
                <a:ea typeface="Calibri" pitchFamily="34" charset="-122"/>
                <a:cs typeface="Calibri" pitchFamily="34" charset="-120"/>
              </a:rPr>
              <a:t>LEPTONS</a:t>
            </a:r>
            <a:endParaRPr lang="en-US" sz="1050" dirty="0"/>
          </a:p>
        </p:txBody>
      </p:sp>
      <p:sp>
        <p:nvSpPr>
          <p:cNvPr id="25" name="Text 23"/>
          <p:cNvSpPr txBox="1"/>
          <p:nvPr/>
        </p:nvSpPr>
        <p:spPr>
          <a:xfrm>
            <a:off x="9692640" y="3867912"/>
            <a:ext cx="1874520" cy="548640"/>
          </a:xfrm>
          <a:prstGeom prst="rect">
            <a:avLst/>
          </a:prstGeom>
          <a:noFill/>
          <a:ln/>
        </p:spPr>
        <p:txBody>
          <a:bodyPr wrap="square" lIns="0" tIns="0" rIns="0" bIns="0" rtlCol="0" anchor="ctr"/>
          <a:lstStyle/>
          <a:p>
            <a:pPr algn="ctr" indent="0" marL="0">
              <a:buNone/>
            </a:pPr>
            <a:r>
              <a:rPr lang="en-US" sz="2600" b="1" dirty="0">
                <a:solidFill>
                  <a:srgbClr val="DCE3F5"/>
                </a:solidFill>
                <a:latin typeface="Cambria" pitchFamily="34" charset="0"/>
                <a:ea typeface="Cambria" pitchFamily="34" charset="-122"/>
                <a:cs typeface="Cambria" pitchFamily="34" charset="-120"/>
              </a:rPr>
              <a:t>τ  ν τ</a:t>
            </a:r>
            <a:endParaRPr lang="en-US" sz="2600" dirty="0"/>
          </a:p>
        </p:txBody>
      </p:sp>
      <p:sp>
        <p:nvSpPr>
          <p:cNvPr id="26" name="Text 24"/>
          <p:cNvSpPr txBox="1"/>
          <p:nvPr/>
        </p:nvSpPr>
        <p:spPr>
          <a:xfrm>
            <a:off x="5394960" y="4800600"/>
            <a:ext cx="6172200" cy="365760"/>
          </a:xfrm>
          <a:prstGeom prst="rect">
            <a:avLst/>
          </a:prstGeom>
          <a:noFill/>
          <a:ln/>
        </p:spPr>
        <p:txBody>
          <a:bodyPr wrap="square" lIns="0" tIns="0" rIns="0" bIns="0" rtlCol="0" anchor="ctr"/>
          <a:lstStyle/>
          <a:p>
            <a:pPr indent="0" marL="0">
              <a:buNone/>
            </a:pPr>
            <a:r>
              <a:rPr lang="en-US" sz="1300" i="1" dirty="0">
                <a:solidFill>
                  <a:srgbClr val="94A3C8"/>
                </a:solidFill>
                <a:latin typeface="Calibri" pitchFamily="34" charset="0"/>
                <a:ea typeface="Calibri" pitchFamily="34" charset="-122"/>
                <a:cs typeface="Calibri" pitchFamily="34" charset="-120"/>
              </a:rPr>
              <a:t>Everything we call matter sits in this table.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631"/>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300" b="1" spc="200" kern="0" dirty="0">
                <a:solidFill>
                  <a:srgbClr val="F2B134"/>
                </a:solidFill>
                <a:latin typeface="Calibri" pitchFamily="34" charset="0"/>
                <a:ea typeface="Calibri" pitchFamily="34" charset="-122"/>
                <a:cs typeface="Calibri" pitchFamily="34" charset="-120"/>
              </a:rPr>
              <a:t>STEP 2</a:t>
            </a:r>
            <a:endParaRPr lang="en-US" sz="13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600" b="1" dirty="0">
                <a:solidFill>
                  <a:srgbClr val="DCE3F5"/>
                </a:solidFill>
                <a:latin typeface="Cambria" pitchFamily="34" charset="0"/>
                <a:ea typeface="Cambria" pitchFamily="34" charset="-122"/>
                <a:cs typeface="Cambria" pitchFamily="34" charset="-120"/>
              </a:rPr>
              <a:t>Demand symmetry — the forces drop out</a:t>
            </a:r>
            <a:endParaRPr lang="en-US" sz="3600" dirty="0"/>
          </a:p>
        </p:txBody>
      </p:sp>
      <p:sp>
        <p:nvSpPr>
          <p:cNvPr id="4" name="Text 2"/>
          <p:cNvSpPr txBox="1"/>
          <p:nvPr/>
        </p:nvSpPr>
        <p:spPr>
          <a:xfrm>
            <a:off x="640080" y="1691640"/>
            <a:ext cx="10881360" cy="548640"/>
          </a:xfrm>
          <a:prstGeom prst="rect">
            <a:avLst/>
          </a:prstGeom>
          <a:noFill/>
          <a:ln/>
        </p:spPr>
        <p:txBody>
          <a:bodyPr wrap="square" lIns="0" tIns="0" rIns="0" bIns="0" rtlCol="0" anchor="ctr"/>
          <a:lstStyle/>
          <a:p>
            <a:pPr indent="0" marL="0">
              <a:buNone/>
            </a:pPr>
            <a:r>
              <a:rPr lang="en-US" sz="1500" dirty="0">
                <a:solidFill>
                  <a:srgbClr val="DCE3F5"/>
                </a:solidFill>
                <a:latin typeface="Calibri" pitchFamily="34" charset="0"/>
                <a:ea typeface="Calibri" pitchFamily="34" charset="-122"/>
                <a:cs typeface="Calibri" pitchFamily="34" charset="-120"/>
              </a:rPr>
              <a:t>Insist the physics doesn't change if you relabel a particle's internal phase differently at every point in spacetime. A plain derivative notices. To fix it you must introduce a compensating field.</a:t>
            </a:r>
            <a:endParaRPr lang="en-US" sz="1500" dirty="0"/>
          </a:p>
        </p:txBody>
      </p:sp>
      <p:sp>
        <p:nvSpPr>
          <p:cNvPr id="5" name="Shape 3"/>
          <p:cNvSpPr/>
          <p:nvPr/>
        </p:nvSpPr>
        <p:spPr>
          <a:xfrm>
            <a:off x="640080" y="2487168"/>
            <a:ext cx="10908792" cy="713232"/>
          </a:xfrm>
          <a:prstGeom prst="roundRect">
            <a:avLst>
              <a:gd name="adj" fmla="val 10256"/>
            </a:avLst>
          </a:prstGeom>
          <a:solidFill>
            <a:srgbClr val="1A2450"/>
          </a:solidFill>
          <a:ln w="12700">
            <a:solidFill>
              <a:srgbClr val="212C5C"/>
            </a:solidFill>
            <a:prstDash val="solid"/>
          </a:ln>
        </p:spPr>
      </p:sp>
      <p:sp>
        <p:nvSpPr>
          <p:cNvPr id="6" name="Text 4"/>
          <p:cNvSpPr txBox="1"/>
          <p:nvPr/>
        </p:nvSpPr>
        <p:spPr>
          <a:xfrm>
            <a:off x="914400" y="2487168"/>
            <a:ext cx="1371600" cy="713232"/>
          </a:xfrm>
          <a:prstGeom prst="rect">
            <a:avLst/>
          </a:prstGeom>
          <a:noFill/>
          <a:ln/>
        </p:spPr>
        <p:txBody>
          <a:bodyPr wrap="square" lIns="0" tIns="0" rIns="0" bIns="0" rtlCol="0" anchor="ctr"/>
          <a:lstStyle/>
          <a:p>
            <a:pPr indent="0" marL="0">
              <a:buNone/>
            </a:pPr>
            <a:r>
              <a:rPr lang="en-US" sz="2200" b="1" dirty="0">
                <a:solidFill>
                  <a:srgbClr val="5BD1C4"/>
                </a:solidFill>
                <a:latin typeface="Cambria" pitchFamily="34" charset="0"/>
                <a:ea typeface="Cambria" pitchFamily="34" charset="-122"/>
                <a:cs typeface="Cambria" pitchFamily="34" charset="-120"/>
              </a:rPr>
              <a:t>U(1)</a:t>
            </a:r>
            <a:endParaRPr lang="en-US" sz="2200" dirty="0"/>
          </a:p>
        </p:txBody>
      </p:sp>
      <p:sp>
        <p:nvSpPr>
          <p:cNvPr id="7" name="Text 5"/>
          <p:cNvSpPr txBox="1"/>
          <p:nvPr/>
        </p:nvSpPr>
        <p:spPr>
          <a:xfrm>
            <a:off x="2286000" y="2487168"/>
            <a:ext cx="457200" cy="713232"/>
          </a:xfrm>
          <a:prstGeom prst="rect">
            <a:avLst/>
          </a:prstGeom>
          <a:noFill/>
          <a:ln/>
        </p:spPr>
        <p:txBody>
          <a:bodyPr wrap="square" lIns="0" tIns="0" rIns="0" bIns="0" rtlCol="0" anchor="ctr"/>
          <a:lstStyle/>
          <a:p>
            <a:pPr algn="ctr" indent="0" marL="0">
              <a:buNone/>
            </a:pPr>
            <a:r>
              <a:rPr lang="en-US" sz="2000" dirty="0">
                <a:solidFill>
                  <a:srgbClr val="94A3C8"/>
                </a:solidFill>
                <a:latin typeface="Calibri" pitchFamily="34" charset="0"/>
                <a:ea typeface="Calibri" pitchFamily="34" charset="-122"/>
                <a:cs typeface="Calibri" pitchFamily="34" charset="-120"/>
              </a:rPr>
              <a:t>→</a:t>
            </a:r>
            <a:endParaRPr lang="en-US" sz="2000" dirty="0"/>
          </a:p>
        </p:txBody>
      </p:sp>
      <p:sp>
        <p:nvSpPr>
          <p:cNvPr id="8" name="Text 6"/>
          <p:cNvSpPr txBox="1"/>
          <p:nvPr/>
        </p:nvSpPr>
        <p:spPr>
          <a:xfrm>
            <a:off x="2834640" y="2487168"/>
            <a:ext cx="3291840" cy="713232"/>
          </a:xfrm>
          <a:prstGeom prst="rect">
            <a:avLst/>
          </a:prstGeom>
          <a:noFill/>
          <a:ln/>
        </p:spPr>
        <p:txBody>
          <a:bodyPr wrap="square" lIns="0" tIns="0" rIns="0" bIns="0" rtlCol="0" anchor="ctr"/>
          <a:lstStyle/>
          <a:p>
            <a:pPr indent="0" marL="0">
              <a:buNone/>
            </a:pPr>
            <a:r>
              <a:rPr lang="en-US" sz="1700" b="1" dirty="0">
                <a:solidFill>
                  <a:srgbClr val="DCE3F5"/>
                </a:solidFill>
                <a:latin typeface="Calibri" pitchFamily="34" charset="0"/>
                <a:ea typeface="Calibri" pitchFamily="34" charset="-122"/>
                <a:cs typeface="Calibri" pitchFamily="34" charset="-120"/>
              </a:rPr>
              <a:t>the photon</a:t>
            </a:r>
            <a:endParaRPr lang="en-US" sz="1700" dirty="0"/>
          </a:p>
        </p:txBody>
      </p:sp>
      <p:sp>
        <p:nvSpPr>
          <p:cNvPr id="9" name="Text 7"/>
          <p:cNvSpPr txBox="1"/>
          <p:nvPr/>
        </p:nvSpPr>
        <p:spPr>
          <a:xfrm>
            <a:off x="6217920" y="2487168"/>
            <a:ext cx="5120640" cy="713232"/>
          </a:xfrm>
          <a:prstGeom prst="rect">
            <a:avLst/>
          </a:prstGeom>
          <a:noFill/>
          <a:ln/>
        </p:spPr>
        <p:txBody>
          <a:bodyPr wrap="square" lIns="0" tIns="0" rIns="0" bIns="0" rtlCol="0" anchor="ctr"/>
          <a:lstStyle/>
          <a:p>
            <a:pPr indent="0" marL="0">
              <a:buNone/>
            </a:pPr>
            <a:r>
              <a:rPr lang="en-US" sz="1500" dirty="0">
                <a:solidFill>
                  <a:srgbClr val="94A3C8"/>
                </a:solidFill>
                <a:latin typeface="Calibri" pitchFamily="34" charset="0"/>
                <a:ea typeface="Calibri" pitchFamily="34" charset="-122"/>
                <a:cs typeface="Calibri" pitchFamily="34" charset="-120"/>
              </a:rPr>
              <a:t>Electromagnetism</a:t>
            </a:r>
            <a:endParaRPr lang="en-US" sz="1500" dirty="0"/>
          </a:p>
        </p:txBody>
      </p:sp>
      <p:sp>
        <p:nvSpPr>
          <p:cNvPr id="10" name="Shape 8"/>
          <p:cNvSpPr/>
          <p:nvPr/>
        </p:nvSpPr>
        <p:spPr>
          <a:xfrm>
            <a:off x="640080" y="3355848"/>
            <a:ext cx="10908792" cy="713232"/>
          </a:xfrm>
          <a:prstGeom prst="roundRect">
            <a:avLst>
              <a:gd name="adj" fmla="val 10256"/>
            </a:avLst>
          </a:prstGeom>
          <a:solidFill>
            <a:srgbClr val="1A2450"/>
          </a:solidFill>
          <a:ln w="12700">
            <a:solidFill>
              <a:srgbClr val="212C5C"/>
            </a:solidFill>
            <a:prstDash val="solid"/>
          </a:ln>
        </p:spPr>
      </p:sp>
      <p:sp>
        <p:nvSpPr>
          <p:cNvPr id="11" name="Text 9"/>
          <p:cNvSpPr txBox="1"/>
          <p:nvPr/>
        </p:nvSpPr>
        <p:spPr>
          <a:xfrm>
            <a:off x="914400" y="3355848"/>
            <a:ext cx="1371600" cy="713232"/>
          </a:xfrm>
          <a:prstGeom prst="rect">
            <a:avLst/>
          </a:prstGeom>
          <a:noFill/>
          <a:ln/>
        </p:spPr>
        <p:txBody>
          <a:bodyPr wrap="square" lIns="0" tIns="0" rIns="0" bIns="0" rtlCol="0" anchor="ctr"/>
          <a:lstStyle/>
          <a:p>
            <a:pPr indent="0" marL="0">
              <a:buNone/>
            </a:pPr>
            <a:r>
              <a:rPr lang="en-US" sz="2200" b="1" dirty="0">
                <a:solidFill>
                  <a:srgbClr val="F2B134"/>
                </a:solidFill>
                <a:latin typeface="Cambria" pitchFamily="34" charset="0"/>
                <a:ea typeface="Cambria" pitchFamily="34" charset="-122"/>
                <a:cs typeface="Cambria" pitchFamily="34" charset="-120"/>
              </a:rPr>
              <a:t>SU(2)</a:t>
            </a:r>
            <a:endParaRPr lang="en-US" sz="2200" dirty="0"/>
          </a:p>
        </p:txBody>
      </p:sp>
      <p:sp>
        <p:nvSpPr>
          <p:cNvPr id="12" name="Text 10"/>
          <p:cNvSpPr txBox="1"/>
          <p:nvPr/>
        </p:nvSpPr>
        <p:spPr>
          <a:xfrm>
            <a:off x="2286000" y="3355848"/>
            <a:ext cx="457200" cy="713232"/>
          </a:xfrm>
          <a:prstGeom prst="rect">
            <a:avLst/>
          </a:prstGeom>
          <a:noFill/>
          <a:ln/>
        </p:spPr>
        <p:txBody>
          <a:bodyPr wrap="square" lIns="0" tIns="0" rIns="0" bIns="0" rtlCol="0" anchor="ctr"/>
          <a:lstStyle/>
          <a:p>
            <a:pPr algn="ctr" indent="0" marL="0">
              <a:buNone/>
            </a:pPr>
            <a:r>
              <a:rPr lang="en-US" sz="2000" dirty="0">
                <a:solidFill>
                  <a:srgbClr val="94A3C8"/>
                </a:solidFill>
                <a:latin typeface="Calibri" pitchFamily="34" charset="0"/>
                <a:ea typeface="Calibri" pitchFamily="34" charset="-122"/>
                <a:cs typeface="Calibri" pitchFamily="34" charset="-120"/>
              </a:rPr>
              <a:t>→</a:t>
            </a:r>
            <a:endParaRPr lang="en-US" sz="2000" dirty="0"/>
          </a:p>
        </p:txBody>
      </p:sp>
      <p:sp>
        <p:nvSpPr>
          <p:cNvPr id="13" name="Text 11"/>
          <p:cNvSpPr txBox="1"/>
          <p:nvPr/>
        </p:nvSpPr>
        <p:spPr>
          <a:xfrm>
            <a:off x="2834640" y="3355848"/>
            <a:ext cx="3291840" cy="713232"/>
          </a:xfrm>
          <a:prstGeom prst="rect">
            <a:avLst/>
          </a:prstGeom>
          <a:noFill/>
          <a:ln/>
        </p:spPr>
        <p:txBody>
          <a:bodyPr wrap="square" lIns="0" tIns="0" rIns="0" bIns="0" rtlCol="0" anchor="ctr"/>
          <a:lstStyle/>
          <a:p>
            <a:pPr indent="0" marL="0">
              <a:buNone/>
            </a:pPr>
            <a:r>
              <a:rPr lang="en-US" sz="1700" b="1" dirty="0">
                <a:solidFill>
                  <a:srgbClr val="DCE3F5"/>
                </a:solidFill>
                <a:latin typeface="Calibri" pitchFamily="34" charset="0"/>
                <a:ea typeface="Calibri" pitchFamily="34" charset="-122"/>
                <a:cs typeface="Calibri" pitchFamily="34" charset="-120"/>
              </a:rPr>
              <a:t>the W and Z</a:t>
            </a:r>
            <a:endParaRPr lang="en-US" sz="1700" dirty="0"/>
          </a:p>
        </p:txBody>
      </p:sp>
      <p:sp>
        <p:nvSpPr>
          <p:cNvPr id="14" name="Text 12"/>
          <p:cNvSpPr txBox="1"/>
          <p:nvPr/>
        </p:nvSpPr>
        <p:spPr>
          <a:xfrm>
            <a:off x="6217920" y="3355848"/>
            <a:ext cx="5120640" cy="713232"/>
          </a:xfrm>
          <a:prstGeom prst="rect">
            <a:avLst/>
          </a:prstGeom>
          <a:noFill/>
          <a:ln/>
        </p:spPr>
        <p:txBody>
          <a:bodyPr wrap="square" lIns="0" tIns="0" rIns="0" bIns="0" rtlCol="0" anchor="ctr"/>
          <a:lstStyle/>
          <a:p>
            <a:pPr indent="0" marL="0">
              <a:buNone/>
            </a:pPr>
            <a:r>
              <a:rPr lang="en-US" sz="1500" dirty="0">
                <a:solidFill>
                  <a:srgbClr val="94A3C8"/>
                </a:solidFill>
                <a:latin typeface="Calibri" pitchFamily="34" charset="0"/>
                <a:ea typeface="Calibri" pitchFamily="34" charset="-122"/>
                <a:cs typeface="Calibri" pitchFamily="34" charset="-120"/>
              </a:rPr>
              <a:t>The weak force</a:t>
            </a:r>
            <a:endParaRPr lang="en-US" sz="1500" dirty="0"/>
          </a:p>
        </p:txBody>
      </p:sp>
      <p:sp>
        <p:nvSpPr>
          <p:cNvPr id="15" name="Shape 13"/>
          <p:cNvSpPr/>
          <p:nvPr/>
        </p:nvSpPr>
        <p:spPr>
          <a:xfrm>
            <a:off x="640080" y="4224528"/>
            <a:ext cx="10908792" cy="713232"/>
          </a:xfrm>
          <a:prstGeom prst="roundRect">
            <a:avLst>
              <a:gd name="adj" fmla="val 10256"/>
            </a:avLst>
          </a:prstGeom>
          <a:solidFill>
            <a:srgbClr val="1A2450"/>
          </a:solidFill>
          <a:ln w="12700">
            <a:solidFill>
              <a:srgbClr val="212C5C"/>
            </a:solidFill>
            <a:prstDash val="solid"/>
          </a:ln>
        </p:spPr>
      </p:sp>
      <p:sp>
        <p:nvSpPr>
          <p:cNvPr id="16" name="Text 14"/>
          <p:cNvSpPr txBox="1"/>
          <p:nvPr/>
        </p:nvSpPr>
        <p:spPr>
          <a:xfrm>
            <a:off x="914400" y="4224528"/>
            <a:ext cx="1371600" cy="713232"/>
          </a:xfrm>
          <a:prstGeom prst="rect">
            <a:avLst/>
          </a:prstGeom>
          <a:noFill/>
          <a:ln/>
        </p:spPr>
        <p:txBody>
          <a:bodyPr wrap="square" lIns="0" tIns="0" rIns="0" bIns="0" rtlCol="0" anchor="ctr"/>
          <a:lstStyle/>
          <a:p>
            <a:pPr indent="0" marL="0">
              <a:buNone/>
            </a:pPr>
            <a:r>
              <a:rPr lang="en-US" sz="2200" b="1" dirty="0">
                <a:solidFill>
                  <a:srgbClr val="5BD1C4"/>
                </a:solidFill>
                <a:latin typeface="Cambria" pitchFamily="34" charset="0"/>
                <a:ea typeface="Cambria" pitchFamily="34" charset="-122"/>
                <a:cs typeface="Cambria" pitchFamily="34" charset="-120"/>
              </a:rPr>
              <a:t>SU(3)</a:t>
            </a:r>
            <a:endParaRPr lang="en-US" sz="2200" dirty="0"/>
          </a:p>
        </p:txBody>
      </p:sp>
      <p:sp>
        <p:nvSpPr>
          <p:cNvPr id="17" name="Text 15"/>
          <p:cNvSpPr txBox="1"/>
          <p:nvPr/>
        </p:nvSpPr>
        <p:spPr>
          <a:xfrm>
            <a:off x="2286000" y="4224528"/>
            <a:ext cx="457200" cy="713232"/>
          </a:xfrm>
          <a:prstGeom prst="rect">
            <a:avLst/>
          </a:prstGeom>
          <a:noFill/>
          <a:ln/>
        </p:spPr>
        <p:txBody>
          <a:bodyPr wrap="square" lIns="0" tIns="0" rIns="0" bIns="0" rtlCol="0" anchor="ctr"/>
          <a:lstStyle/>
          <a:p>
            <a:pPr algn="ctr" indent="0" marL="0">
              <a:buNone/>
            </a:pPr>
            <a:r>
              <a:rPr lang="en-US" sz="2000" dirty="0">
                <a:solidFill>
                  <a:srgbClr val="94A3C8"/>
                </a:solidFill>
                <a:latin typeface="Calibri" pitchFamily="34" charset="0"/>
                <a:ea typeface="Calibri" pitchFamily="34" charset="-122"/>
                <a:cs typeface="Calibri" pitchFamily="34" charset="-120"/>
              </a:rPr>
              <a:t>→</a:t>
            </a:r>
            <a:endParaRPr lang="en-US" sz="2000" dirty="0"/>
          </a:p>
        </p:txBody>
      </p:sp>
      <p:sp>
        <p:nvSpPr>
          <p:cNvPr id="18" name="Text 16"/>
          <p:cNvSpPr txBox="1"/>
          <p:nvPr/>
        </p:nvSpPr>
        <p:spPr>
          <a:xfrm>
            <a:off x="2834640" y="4224528"/>
            <a:ext cx="3291840" cy="713232"/>
          </a:xfrm>
          <a:prstGeom prst="rect">
            <a:avLst/>
          </a:prstGeom>
          <a:noFill/>
          <a:ln/>
        </p:spPr>
        <p:txBody>
          <a:bodyPr wrap="square" lIns="0" tIns="0" rIns="0" bIns="0" rtlCol="0" anchor="ctr"/>
          <a:lstStyle/>
          <a:p>
            <a:pPr indent="0" marL="0">
              <a:buNone/>
            </a:pPr>
            <a:r>
              <a:rPr lang="en-US" sz="1700" b="1" dirty="0">
                <a:solidFill>
                  <a:srgbClr val="DCE3F5"/>
                </a:solidFill>
                <a:latin typeface="Calibri" pitchFamily="34" charset="0"/>
                <a:ea typeface="Calibri" pitchFamily="34" charset="-122"/>
                <a:cs typeface="Calibri" pitchFamily="34" charset="-120"/>
              </a:rPr>
              <a:t>the gluons</a:t>
            </a:r>
            <a:endParaRPr lang="en-US" sz="1700" dirty="0"/>
          </a:p>
        </p:txBody>
      </p:sp>
      <p:sp>
        <p:nvSpPr>
          <p:cNvPr id="19" name="Text 17"/>
          <p:cNvSpPr txBox="1"/>
          <p:nvPr/>
        </p:nvSpPr>
        <p:spPr>
          <a:xfrm>
            <a:off x="6217920" y="4224528"/>
            <a:ext cx="5120640" cy="713232"/>
          </a:xfrm>
          <a:prstGeom prst="rect">
            <a:avLst/>
          </a:prstGeom>
          <a:noFill/>
          <a:ln/>
        </p:spPr>
        <p:txBody>
          <a:bodyPr wrap="square" lIns="0" tIns="0" rIns="0" bIns="0" rtlCol="0" anchor="ctr"/>
          <a:lstStyle/>
          <a:p>
            <a:pPr indent="0" marL="0">
              <a:buNone/>
            </a:pPr>
            <a:r>
              <a:rPr lang="en-US" sz="1500" dirty="0">
                <a:solidFill>
                  <a:srgbClr val="94A3C8"/>
                </a:solidFill>
                <a:latin typeface="Calibri" pitchFamily="34" charset="0"/>
                <a:ea typeface="Calibri" pitchFamily="34" charset="-122"/>
                <a:cs typeface="Calibri" pitchFamily="34" charset="-120"/>
              </a:rPr>
              <a:t>The strong force</a:t>
            </a:r>
            <a:endParaRPr lang="en-US" sz="1500" dirty="0"/>
          </a:p>
        </p:txBody>
      </p:sp>
      <p:sp>
        <p:nvSpPr>
          <p:cNvPr id="20" name="Text 18"/>
          <p:cNvSpPr txBox="1"/>
          <p:nvPr/>
        </p:nvSpPr>
        <p:spPr>
          <a:xfrm>
            <a:off x="640080" y="5257800"/>
            <a:ext cx="10908792" cy="457200"/>
          </a:xfrm>
          <a:prstGeom prst="rect">
            <a:avLst/>
          </a:prstGeom>
          <a:noFill/>
          <a:ln/>
        </p:spPr>
        <p:txBody>
          <a:bodyPr wrap="square" lIns="0" tIns="0" rIns="0" bIns="0" rtlCol="0" anchor="ctr"/>
          <a:lstStyle/>
          <a:p>
            <a:pPr indent="0" marL="0">
              <a:buNone/>
            </a:pPr>
            <a:r>
              <a:rPr lang="en-US" sz="2100" b="1" i="1" dirty="0">
                <a:solidFill>
                  <a:srgbClr val="F2B134"/>
                </a:solidFill>
                <a:latin typeface="Cambria" pitchFamily="34" charset="0"/>
                <a:ea typeface="Cambria" pitchFamily="34" charset="-122"/>
                <a:cs typeface="Cambria" pitchFamily="34" charset="-120"/>
              </a:rPr>
              <a:t>You don't add the forces. They're the price of the symmetry.</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631"/>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300" b="1" spc="200" kern="0" dirty="0">
                <a:solidFill>
                  <a:srgbClr val="F2B134"/>
                </a:solidFill>
                <a:latin typeface="Calibri" pitchFamily="34" charset="0"/>
                <a:ea typeface="Calibri" pitchFamily="34" charset="-122"/>
                <a:cs typeface="Calibri" pitchFamily="34" charset="-120"/>
              </a:rPr>
              <a:t>THE CATCH</a:t>
            </a:r>
            <a:endParaRPr lang="en-US" sz="13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600" b="1" dirty="0">
                <a:solidFill>
                  <a:srgbClr val="DCE3F5"/>
                </a:solidFill>
                <a:latin typeface="Cambria" pitchFamily="34" charset="0"/>
                <a:ea typeface="Cambria" pitchFamily="34" charset="-122"/>
                <a:cs typeface="Cambria" pitchFamily="34" charset="-120"/>
              </a:rPr>
              <a:t>Those symmetries forbid mass</a:t>
            </a:r>
            <a:endParaRPr lang="en-US" sz="3600" dirty="0"/>
          </a:p>
        </p:txBody>
      </p:sp>
      <p:sp>
        <p:nvSpPr>
          <p:cNvPr id="4" name="Shape 2"/>
          <p:cNvSpPr/>
          <p:nvPr/>
        </p:nvSpPr>
        <p:spPr>
          <a:xfrm>
            <a:off x="640080" y="1828800"/>
            <a:ext cx="5257800" cy="3017520"/>
          </a:xfrm>
          <a:prstGeom prst="roundRect">
            <a:avLst>
              <a:gd name="adj" fmla="val 3030"/>
            </a:avLst>
          </a:prstGeom>
          <a:solidFill>
            <a:srgbClr val="1A2450"/>
          </a:solidFill>
          <a:ln w="12700">
            <a:solidFill>
              <a:srgbClr val="212C5C"/>
            </a:solidFill>
            <a:prstDash val="solid"/>
          </a:ln>
        </p:spPr>
      </p:sp>
      <p:sp>
        <p:nvSpPr>
          <p:cNvPr id="5" name="Text 3"/>
          <p:cNvSpPr txBox="1"/>
          <p:nvPr/>
        </p:nvSpPr>
        <p:spPr>
          <a:xfrm>
            <a:off x="640080" y="2194560"/>
            <a:ext cx="5257800" cy="914400"/>
          </a:xfrm>
          <a:prstGeom prst="rect">
            <a:avLst/>
          </a:prstGeom>
          <a:noFill/>
          <a:ln/>
        </p:spPr>
        <p:txBody>
          <a:bodyPr wrap="square" lIns="0" tIns="0" rIns="0" bIns="0" rtlCol="0" anchor="ctr"/>
          <a:lstStyle/>
          <a:p>
            <a:pPr algn="ctr" indent="0" marL="0">
              <a:buNone/>
            </a:pPr>
            <a:r>
              <a:rPr lang="en-US" sz="5400" b="1" dirty="0">
                <a:solidFill>
                  <a:srgbClr val="DCE3F5"/>
                </a:solidFill>
                <a:latin typeface="Cambria" pitchFamily="34" charset="0"/>
                <a:ea typeface="Cambria" pitchFamily="34" charset="-122"/>
                <a:cs typeface="Cambria" pitchFamily="34" charset="-120"/>
              </a:rPr>
              <a:t>m ψ̄ ψ</a:t>
            </a:r>
            <a:endParaRPr lang="en-US" sz="5400" dirty="0"/>
          </a:p>
        </p:txBody>
      </p:sp>
      <p:sp>
        <p:nvSpPr>
          <p:cNvPr id="6" name="Text 4"/>
          <p:cNvSpPr txBox="1"/>
          <p:nvPr/>
        </p:nvSpPr>
        <p:spPr>
          <a:xfrm>
            <a:off x="640080" y="3154680"/>
            <a:ext cx="5257800" cy="365760"/>
          </a:xfrm>
          <a:prstGeom prst="rect">
            <a:avLst/>
          </a:prstGeom>
          <a:noFill/>
          <a:ln/>
        </p:spPr>
        <p:txBody>
          <a:bodyPr wrap="square" lIns="0" tIns="0" rIns="0" bIns="0" rtlCol="0" anchor="ctr"/>
          <a:lstStyle/>
          <a:p>
            <a:pPr algn="ctr" indent="0" marL="0">
              <a:buNone/>
            </a:pPr>
            <a:r>
              <a:rPr lang="en-US" sz="1700" b="1" spc="100" kern="0" dirty="0">
                <a:solidFill>
                  <a:srgbClr val="F2B134"/>
                </a:solidFill>
                <a:latin typeface="Calibri" pitchFamily="34" charset="0"/>
                <a:ea typeface="Calibri" pitchFamily="34" charset="-122"/>
                <a:cs typeface="Calibri" pitchFamily="34" charset="-120"/>
              </a:rPr>
              <a:t>not allowed</a:t>
            </a:r>
            <a:endParaRPr lang="en-US" sz="1700" dirty="0"/>
          </a:p>
        </p:txBody>
      </p:sp>
      <p:sp>
        <p:nvSpPr>
          <p:cNvPr id="7" name="Text 5"/>
          <p:cNvSpPr txBox="1"/>
          <p:nvPr/>
        </p:nvSpPr>
        <p:spPr>
          <a:xfrm>
            <a:off x="1051560" y="3703320"/>
            <a:ext cx="4434840" cy="822960"/>
          </a:xfrm>
          <a:prstGeom prst="rect">
            <a:avLst/>
          </a:prstGeom>
          <a:noFill/>
          <a:ln/>
        </p:spPr>
        <p:txBody>
          <a:bodyPr wrap="square" lIns="0" tIns="0" rIns="0" bIns="0" rtlCol="0" anchor="ctr"/>
          <a:lstStyle/>
          <a:p>
            <a:pPr algn="ctr" indent="0" marL="0">
              <a:buNone/>
            </a:pPr>
            <a:r>
              <a:rPr lang="en-US" sz="1350" dirty="0">
                <a:solidFill>
                  <a:srgbClr val="94A3C8"/>
                </a:solidFill>
                <a:latin typeface="Calibri" pitchFamily="34" charset="0"/>
                <a:ea typeface="Calibri" pitchFamily="34" charset="-122"/>
                <a:cs typeface="Calibri" pitchFamily="34" charset="-120"/>
              </a:rPr>
              <a:t>Write a mass term by hand and the gauge symmetry you just used to generate the forces is broken. The whole construction falls over.</a:t>
            </a:r>
            <a:endParaRPr lang="en-US" sz="1350" dirty="0"/>
          </a:p>
        </p:txBody>
      </p:sp>
      <p:sp>
        <p:nvSpPr>
          <p:cNvPr id="8" name="Text 6"/>
          <p:cNvSpPr txBox="1"/>
          <p:nvPr/>
        </p:nvSpPr>
        <p:spPr>
          <a:xfrm>
            <a:off x="6400800" y="2057400"/>
            <a:ext cx="5120640" cy="2651760"/>
          </a:xfrm>
          <a:prstGeom prst="rect">
            <a:avLst/>
          </a:prstGeom>
          <a:noFill/>
          <a:ln/>
        </p:spPr>
        <p:txBody>
          <a:bodyPr wrap="square" lIns="0" tIns="0" rIns="0" bIns="0" rtlCol="0" anchor="ctr"/>
          <a:lstStyle/>
          <a:p>
            <a:pPr indent="0" marL="0">
              <a:lnSpc>
                <a:spcPct val="115000"/>
              </a:lnSpc>
              <a:buNone/>
            </a:pPr>
            <a:r>
              <a:rPr lang="en-US" sz="1600" b="1" dirty="0">
                <a:solidFill>
                  <a:srgbClr val="DCE3F5"/>
                </a:solidFill>
                <a:latin typeface="Calibri" pitchFamily="34" charset="0"/>
                <a:ea typeface="Calibri" pitchFamily="34" charset="-122"/>
                <a:cs typeface="Calibri" pitchFamily="34" charset="-120"/>
              </a:rPr>
              <a:t>But the world plainly has mass in it.</a:t>
            </a:r>
            <a:endParaRPr lang="en-US" sz="1600" dirty="0"/>
          </a:p>
          <a:p>
            <a:pPr indent="0" marL="0">
              <a:lnSpc>
                <a:spcPct val="115000"/>
              </a:lnSpc>
              <a:buNone/>
            </a:pPr>
            <a:endParaRPr lang="en-US" sz="1600" dirty="0"/>
          </a:p>
          <a:p>
            <a:pPr indent="0" marL="0">
              <a:lnSpc>
                <a:spcPct val="115000"/>
              </a:lnSpc>
              <a:buNone/>
            </a:pPr>
            <a:r>
              <a:rPr lang="en-US" sz="1600" dirty="0">
                <a:solidFill>
                  <a:srgbClr val="DCE3F5"/>
                </a:solidFill>
                <a:latin typeface="Calibri" pitchFamily="34" charset="0"/>
                <a:ea typeface="Calibri" pitchFamily="34" charset="-122"/>
                <a:cs typeface="Calibri" pitchFamily="34" charset="-120"/>
              </a:rPr>
              <a:t>So mass can't be something we write into the theory. It has to be something the particles acquire — from somewhere else, by a mechanism the symmetry tolerates.</a:t>
            </a:r>
            <a:endParaRPr lang="en-US" sz="1600" dirty="0"/>
          </a:p>
          <a:p>
            <a:pPr indent="0" marL="0">
              <a:lnSpc>
                <a:spcPct val="115000"/>
              </a:lnSpc>
              <a:buNone/>
            </a:pPr>
            <a:endParaRPr lang="en-US" sz="1600" dirty="0"/>
          </a:p>
          <a:p>
            <a:pPr indent="0" marL="0">
              <a:lnSpc>
                <a:spcPct val="115000"/>
              </a:lnSpc>
              <a:buNone/>
            </a:pPr>
            <a:r>
              <a:rPr lang="en-US" sz="1600" i="1" dirty="0">
                <a:solidFill>
                  <a:srgbClr val="DCE3F5"/>
                </a:solidFill>
                <a:latin typeface="Calibri" pitchFamily="34" charset="0"/>
                <a:ea typeface="Calibri" pitchFamily="34" charset="-122"/>
                <a:cs typeface="Calibri" pitchFamily="34" charset="-120"/>
              </a:rPr>
              <a:t>That is the entire reason the next slide exists.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631"/>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300" b="1" spc="200" kern="0" dirty="0">
                <a:solidFill>
                  <a:srgbClr val="F2B134"/>
                </a:solidFill>
                <a:latin typeface="Calibri" pitchFamily="34" charset="0"/>
                <a:ea typeface="Calibri" pitchFamily="34" charset="-122"/>
                <a:cs typeface="Calibri" pitchFamily="34" charset="-120"/>
              </a:rPr>
              <a:t>STEP 3</a:t>
            </a:r>
            <a:endParaRPr lang="en-US" sz="13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600" b="1" dirty="0">
                <a:solidFill>
                  <a:srgbClr val="DCE3F5"/>
                </a:solidFill>
                <a:latin typeface="Cambria" pitchFamily="34" charset="0"/>
                <a:ea typeface="Cambria" pitchFamily="34" charset="-122"/>
                <a:cs typeface="Cambria" pitchFamily="34" charset="-120"/>
              </a:rPr>
              <a:t>Add one more field, everywhere</a:t>
            </a:r>
            <a:endParaRPr lang="en-US" sz="3600" dirty="0"/>
          </a:p>
        </p:txBody>
      </p:sp>
      <p:sp>
        <p:nvSpPr>
          <p:cNvPr id="4" name="Text 2"/>
          <p:cNvSpPr txBox="1"/>
          <p:nvPr/>
        </p:nvSpPr>
        <p:spPr>
          <a:xfrm>
            <a:off x="640080" y="1783080"/>
            <a:ext cx="5623560" cy="3017520"/>
          </a:xfrm>
          <a:prstGeom prst="rect">
            <a:avLst/>
          </a:prstGeom>
          <a:noFill/>
          <a:ln/>
        </p:spPr>
        <p:txBody>
          <a:bodyPr wrap="square" lIns="0" tIns="0" rIns="0" bIns="0" rtlCol="0" anchor="ctr"/>
          <a:lstStyle/>
          <a:p>
            <a:pPr marL="342900" indent="-342900">
              <a:spcAft>
                <a:spcPts val="1400"/>
              </a:spcAft>
              <a:buSzPct val="100000"/>
              <a:buChar char="•"/>
            </a:pPr>
            <a:r>
              <a:rPr lang="en-US" sz="1550" dirty="0">
                <a:solidFill>
                  <a:srgbClr val="DCE3F5"/>
                </a:solidFill>
                <a:latin typeface="Calibri" pitchFamily="34" charset="0"/>
                <a:ea typeface="Calibri" pitchFamily="34" charset="-122"/>
                <a:cs typeface="Calibri" pitchFamily="34" charset="-120"/>
              </a:rPr>
              <a:t>A field that fills all of space.</a:t>
            </a:r>
            <a:endParaRPr lang="en-US" sz="1550" dirty="0"/>
          </a:p>
          <a:p>
            <a:pPr marL="342900" indent="-342900">
              <a:spcAft>
                <a:spcPts val="1400"/>
              </a:spcAft>
              <a:buSzPct val="100000"/>
              <a:buChar char="•"/>
            </a:pPr>
            <a:r>
              <a:rPr lang="en-US" sz="1550" dirty="0">
                <a:solidFill>
                  <a:srgbClr val="DCE3F5"/>
                </a:solidFill>
                <a:latin typeface="Calibri" pitchFamily="34" charset="0"/>
                <a:ea typeface="Calibri" pitchFamily="34" charset="-122"/>
                <a:cs typeface="Calibri" pitchFamily="34" charset="-120"/>
              </a:rPr>
              <a:t>It sits not at zero, but at the bottom of its potential — a value the universe settled into early on.</a:t>
            </a:r>
            <a:endParaRPr lang="en-US" sz="1550" dirty="0"/>
          </a:p>
          <a:p>
            <a:pPr marL="342900" indent="-342900">
              <a:spcAft>
                <a:spcPts val="1400"/>
              </a:spcAft>
              <a:buSzPct val="100000"/>
              <a:buChar char="•"/>
            </a:pPr>
            <a:r>
              <a:rPr lang="en-US" sz="1550" dirty="0">
                <a:solidFill>
                  <a:srgbClr val="DCE3F5"/>
                </a:solidFill>
                <a:latin typeface="Calibri" pitchFamily="34" charset="0"/>
                <a:ea typeface="Calibri" pitchFamily="34" charset="-122"/>
                <a:cs typeface="Calibri" pitchFamily="34" charset="-120"/>
              </a:rPr>
              <a:t>Anything that couples to that background picks up a drag that behaves exactly like mass.</a:t>
            </a:r>
            <a:endParaRPr lang="en-US" sz="1550" dirty="0"/>
          </a:p>
          <a:p>
            <a:pPr marL="342900" indent="-342900">
              <a:spcAft>
                <a:spcPts val="1400"/>
              </a:spcAft>
              <a:buSzPct val="100000"/>
              <a:buChar char="•"/>
            </a:pPr>
            <a:r>
              <a:rPr lang="en-US" sz="1550" dirty="0">
                <a:solidFill>
                  <a:srgbClr val="DCE3F5"/>
                </a:solidFill>
                <a:latin typeface="Calibri" pitchFamily="34" charset="0"/>
                <a:ea typeface="Calibri" pitchFamily="34" charset="-122"/>
                <a:cs typeface="Calibri" pitchFamily="34" charset="-120"/>
              </a:rPr>
              <a:t>The same coupling mixes the quark generations — which is how one family turns into another.</a:t>
            </a:r>
            <a:endParaRPr lang="en-US" sz="1550" dirty="0"/>
          </a:p>
        </p:txBody>
      </p:sp>
      <p:sp>
        <p:nvSpPr>
          <p:cNvPr id="5" name="Shape 3"/>
          <p:cNvSpPr/>
          <p:nvPr/>
        </p:nvSpPr>
        <p:spPr>
          <a:xfrm>
            <a:off x="6629400" y="1783080"/>
            <a:ext cx="4919472" cy="3246120"/>
          </a:xfrm>
          <a:prstGeom prst="roundRect">
            <a:avLst>
              <a:gd name="adj" fmla="val 2817"/>
            </a:avLst>
          </a:prstGeom>
          <a:solidFill>
            <a:srgbClr val="1A2450"/>
          </a:solidFill>
          <a:ln w="12700">
            <a:solidFill>
              <a:srgbClr val="212C5C"/>
            </a:solidFill>
            <a:prstDash val="solid"/>
          </a:ln>
        </p:spPr>
      </p:sp>
      <p:sp>
        <p:nvSpPr>
          <p:cNvPr id="6" name="Shape 4"/>
          <p:cNvSpPr/>
          <p:nvPr/>
        </p:nvSpPr>
        <p:spPr>
          <a:xfrm>
            <a:off x="6995160" y="2468880"/>
            <a:ext cx="70104" cy="391799"/>
          </a:xfrm>
          <a:prstGeom prst="line">
            <a:avLst/>
          </a:prstGeom>
          <a:noFill/>
          <a:ln w="31750">
            <a:solidFill>
              <a:srgbClr val="5BD1C4"/>
            </a:solidFill>
            <a:prstDash val="solid"/>
          </a:ln>
        </p:spPr>
      </p:sp>
      <p:sp>
        <p:nvSpPr>
          <p:cNvPr id="7" name="Shape 5"/>
          <p:cNvSpPr/>
          <p:nvPr/>
        </p:nvSpPr>
        <p:spPr>
          <a:xfrm>
            <a:off x="7065264" y="2860679"/>
            <a:ext cx="70104" cy="339249"/>
          </a:xfrm>
          <a:prstGeom prst="line">
            <a:avLst/>
          </a:prstGeom>
          <a:noFill/>
          <a:ln w="31750">
            <a:solidFill>
              <a:srgbClr val="5BD1C4"/>
            </a:solidFill>
            <a:prstDash val="solid"/>
          </a:ln>
        </p:spPr>
      </p:sp>
      <p:sp>
        <p:nvSpPr>
          <p:cNvPr id="8" name="Shape 6"/>
          <p:cNvSpPr/>
          <p:nvPr/>
        </p:nvSpPr>
        <p:spPr>
          <a:xfrm>
            <a:off x="7135368" y="3199928"/>
            <a:ext cx="70104" cy="290762"/>
          </a:xfrm>
          <a:prstGeom prst="line">
            <a:avLst/>
          </a:prstGeom>
          <a:noFill/>
          <a:ln w="31750">
            <a:solidFill>
              <a:srgbClr val="5BD1C4"/>
            </a:solidFill>
            <a:prstDash val="solid"/>
          </a:ln>
        </p:spPr>
      </p:sp>
      <p:sp>
        <p:nvSpPr>
          <p:cNvPr id="9" name="Shape 7"/>
          <p:cNvSpPr/>
          <p:nvPr/>
        </p:nvSpPr>
        <p:spPr>
          <a:xfrm>
            <a:off x="7205472" y="3490690"/>
            <a:ext cx="70104" cy="246195"/>
          </a:xfrm>
          <a:prstGeom prst="line">
            <a:avLst/>
          </a:prstGeom>
          <a:noFill/>
          <a:ln w="31750">
            <a:solidFill>
              <a:srgbClr val="5BD1C4"/>
            </a:solidFill>
            <a:prstDash val="solid"/>
          </a:ln>
        </p:spPr>
      </p:sp>
      <p:sp>
        <p:nvSpPr>
          <p:cNvPr id="10" name="Shape 8"/>
          <p:cNvSpPr/>
          <p:nvPr/>
        </p:nvSpPr>
        <p:spPr>
          <a:xfrm>
            <a:off x="7275576" y="3736885"/>
            <a:ext cx="70104" cy="205404"/>
          </a:xfrm>
          <a:prstGeom prst="line">
            <a:avLst/>
          </a:prstGeom>
          <a:noFill/>
          <a:ln w="31750">
            <a:solidFill>
              <a:srgbClr val="5BD1C4"/>
            </a:solidFill>
            <a:prstDash val="solid"/>
          </a:ln>
        </p:spPr>
      </p:sp>
      <p:sp>
        <p:nvSpPr>
          <p:cNvPr id="11" name="Shape 9"/>
          <p:cNvSpPr/>
          <p:nvPr/>
        </p:nvSpPr>
        <p:spPr>
          <a:xfrm>
            <a:off x="7345680" y="3942289"/>
            <a:ext cx="70104" cy="168249"/>
          </a:xfrm>
          <a:prstGeom prst="line">
            <a:avLst/>
          </a:prstGeom>
          <a:noFill/>
          <a:ln w="31750">
            <a:solidFill>
              <a:srgbClr val="5BD1C4"/>
            </a:solidFill>
            <a:prstDash val="solid"/>
          </a:ln>
        </p:spPr>
      </p:sp>
      <p:sp>
        <p:nvSpPr>
          <p:cNvPr id="12" name="Shape 10"/>
          <p:cNvSpPr/>
          <p:nvPr/>
        </p:nvSpPr>
        <p:spPr>
          <a:xfrm>
            <a:off x="7415784" y="4110538"/>
            <a:ext cx="70104" cy="134585"/>
          </a:xfrm>
          <a:prstGeom prst="line">
            <a:avLst/>
          </a:prstGeom>
          <a:noFill/>
          <a:ln w="31750">
            <a:solidFill>
              <a:srgbClr val="5BD1C4"/>
            </a:solidFill>
            <a:prstDash val="solid"/>
          </a:ln>
        </p:spPr>
      </p:sp>
      <p:sp>
        <p:nvSpPr>
          <p:cNvPr id="13" name="Shape 11"/>
          <p:cNvSpPr/>
          <p:nvPr/>
        </p:nvSpPr>
        <p:spPr>
          <a:xfrm>
            <a:off x="7485888" y="4245123"/>
            <a:ext cx="70104" cy="104271"/>
          </a:xfrm>
          <a:prstGeom prst="line">
            <a:avLst/>
          </a:prstGeom>
          <a:noFill/>
          <a:ln w="31750">
            <a:solidFill>
              <a:srgbClr val="5BD1C4"/>
            </a:solidFill>
            <a:prstDash val="solid"/>
          </a:ln>
        </p:spPr>
      </p:sp>
      <p:sp>
        <p:nvSpPr>
          <p:cNvPr id="14" name="Shape 12"/>
          <p:cNvSpPr/>
          <p:nvPr/>
        </p:nvSpPr>
        <p:spPr>
          <a:xfrm>
            <a:off x="7555992" y="4349394"/>
            <a:ext cx="70104" cy="77164"/>
          </a:xfrm>
          <a:prstGeom prst="line">
            <a:avLst/>
          </a:prstGeom>
          <a:noFill/>
          <a:ln w="31750">
            <a:solidFill>
              <a:srgbClr val="5BD1C4"/>
            </a:solidFill>
            <a:prstDash val="solid"/>
          </a:ln>
        </p:spPr>
      </p:sp>
      <p:sp>
        <p:nvSpPr>
          <p:cNvPr id="15" name="Shape 13"/>
          <p:cNvSpPr/>
          <p:nvPr/>
        </p:nvSpPr>
        <p:spPr>
          <a:xfrm>
            <a:off x="7626096" y="4426558"/>
            <a:ext cx="70104" cy="53121"/>
          </a:xfrm>
          <a:prstGeom prst="line">
            <a:avLst/>
          </a:prstGeom>
          <a:noFill/>
          <a:ln w="31750">
            <a:solidFill>
              <a:srgbClr val="5BD1C4"/>
            </a:solidFill>
            <a:prstDash val="solid"/>
          </a:ln>
        </p:spPr>
      </p:sp>
      <p:sp>
        <p:nvSpPr>
          <p:cNvPr id="16" name="Shape 14"/>
          <p:cNvSpPr/>
          <p:nvPr/>
        </p:nvSpPr>
        <p:spPr>
          <a:xfrm>
            <a:off x="7696200" y="4479680"/>
            <a:ext cx="70104" cy="32001"/>
          </a:xfrm>
          <a:prstGeom prst="line">
            <a:avLst/>
          </a:prstGeom>
          <a:noFill/>
          <a:ln w="31750">
            <a:solidFill>
              <a:srgbClr val="5BD1C4"/>
            </a:solidFill>
            <a:prstDash val="solid"/>
          </a:ln>
        </p:spPr>
      </p:sp>
      <p:sp>
        <p:nvSpPr>
          <p:cNvPr id="17" name="Shape 15"/>
          <p:cNvSpPr/>
          <p:nvPr/>
        </p:nvSpPr>
        <p:spPr>
          <a:xfrm>
            <a:off x="7766304" y="4511680"/>
            <a:ext cx="70104" cy="13660"/>
          </a:xfrm>
          <a:prstGeom prst="line">
            <a:avLst/>
          </a:prstGeom>
          <a:noFill/>
          <a:ln w="31750">
            <a:solidFill>
              <a:srgbClr val="5BD1C4"/>
            </a:solidFill>
            <a:prstDash val="solid"/>
          </a:ln>
        </p:spPr>
      </p:sp>
      <p:sp>
        <p:nvSpPr>
          <p:cNvPr id="18" name="Shape 16"/>
          <p:cNvSpPr/>
          <p:nvPr/>
        </p:nvSpPr>
        <p:spPr>
          <a:xfrm flipV="1">
            <a:off x="7836408" y="4523295"/>
            <a:ext cx="70104" cy="2045"/>
          </a:xfrm>
          <a:prstGeom prst="line">
            <a:avLst/>
          </a:prstGeom>
          <a:noFill/>
          <a:ln w="31750">
            <a:solidFill>
              <a:srgbClr val="5BD1C4"/>
            </a:solidFill>
            <a:prstDash val="solid"/>
          </a:ln>
        </p:spPr>
      </p:sp>
      <p:sp>
        <p:nvSpPr>
          <p:cNvPr id="19" name="Shape 17"/>
          <p:cNvSpPr/>
          <p:nvPr/>
        </p:nvSpPr>
        <p:spPr>
          <a:xfrm flipV="1">
            <a:off x="7906512" y="4508040"/>
            <a:ext cx="70104" cy="15255"/>
          </a:xfrm>
          <a:prstGeom prst="line">
            <a:avLst/>
          </a:prstGeom>
          <a:noFill/>
          <a:ln w="31750">
            <a:solidFill>
              <a:srgbClr val="5BD1C4"/>
            </a:solidFill>
            <a:prstDash val="solid"/>
          </a:ln>
        </p:spPr>
      </p:sp>
      <p:sp>
        <p:nvSpPr>
          <p:cNvPr id="20" name="Shape 18"/>
          <p:cNvSpPr/>
          <p:nvPr/>
        </p:nvSpPr>
        <p:spPr>
          <a:xfrm flipV="1">
            <a:off x="7976616" y="4481927"/>
            <a:ext cx="70104" cy="26113"/>
          </a:xfrm>
          <a:prstGeom prst="line">
            <a:avLst/>
          </a:prstGeom>
          <a:noFill/>
          <a:ln w="31750">
            <a:solidFill>
              <a:srgbClr val="5BD1C4"/>
            </a:solidFill>
            <a:prstDash val="solid"/>
          </a:ln>
        </p:spPr>
      </p:sp>
      <p:sp>
        <p:nvSpPr>
          <p:cNvPr id="21" name="Shape 19"/>
          <p:cNvSpPr/>
          <p:nvPr/>
        </p:nvSpPr>
        <p:spPr>
          <a:xfrm flipV="1">
            <a:off x="8046720" y="4447165"/>
            <a:ext cx="70104" cy="34762"/>
          </a:xfrm>
          <a:prstGeom prst="line">
            <a:avLst/>
          </a:prstGeom>
          <a:noFill/>
          <a:ln w="31750">
            <a:solidFill>
              <a:srgbClr val="5BD1C4"/>
            </a:solidFill>
            <a:prstDash val="solid"/>
          </a:ln>
        </p:spPr>
      </p:sp>
      <p:sp>
        <p:nvSpPr>
          <p:cNvPr id="22" name="Shape 20"/>
          <p:cNvSpPr/>
          <p:nvPr/>
        </p:nvSpPr>
        <p:spPr>
          <a:xfrm flipV="1">
            <a:off x="8116824" y="4405821"/>
            <a:ext cx="70104" cy="41344"/>
          </a:xfrm>
          <a:prstGeom prst="line">
            <a:avLst/>
          </a:prstGeom>
          <a:noFill/>
          <a:ln w="31750">
            <a:solidFill>
              <a:srgbClr val="5BD1C4"/>
            </a:solidFill>
            <a:prstDash val="solid"/>
          </a:ln>
        </p:spPr>
      </p:sp>
      <p:sp>
        <p:nvSpPr>
          <p:cNvPr id="23" name="Shape 21"/>
          <p:cNvSpPr/>
          <p:nvPr/>
        </p:nvSpPr>
        <p:spPr>
          <a:xfrm flipV="1">
            <a:off x="8186928" y="4359819"/>
            <a:ext cx="70104" cy="46002"/>
          </a:xfrm>
          <a:prstGeom prst="line">
            <a:avLst/>
          </a:prstGeom>
          <a:noFill/>
          <a:ln w="31750">
            <a:solidFill>
              <a:srgbClr val="5BD1C4"/>
            </a:solidFill>
            <a:prstDash val="solid"/>
          </a:ln>
        </p:spPr>
      </p:sp>
      <p:sp>
        <p:nvSpPr>
          <p:cNvPr id="24" name="Shape 22"/>
          <p:cNvSpPr/>
          <p:nvPr/>
        </p:nvSpPr>
        <p:spPr>
          <a:xfrm flipV="1">
            <a:off x="8257032" y="4310940"/>
            <a:ext cx="70104" cy="48879"/>
          </a:xfrm>
          <a:prstGeom prst="line">
            <a:avLst/>
          </a:prstGeom>
          <a:noFill/>
          <a:ln w="31750">
            <a:solidFill>
              <a:srgbClr val="5BD1C4"/>
            </a:solidFill>
            <a:prstDash val="solid"/>
          </a:ln>
        </p:spPr>
      </p:sp>
      <p:sp>
        <p:nvSpPr>
          <p:cNvPr id="25" name="Shape 23"/>
          <p:cNvSpPr/>
          <p:nvPr/>
        </p:nvSpPr>
        <p:spPr>
          <a:xfrm flipV="1">
            <a:off x="8327136" y="4260824"/>
            <a:ext cx="70104" cy="50116"/>
          </a:xfrm>
          <a:prstGeom prst="line">
            <a:avLst/>
          </a:prstGeom>
          <a:noFill/>
          <a:ln w="31750">
            <a:solidFill>
              <a:srgbClr val="5BD1C4"/>
            </a:solidFill>
            <a:prstDash val="solid"/>
          </a:ln>
        </p:spPr>
      </p:sp>
      <p:sp>
        <p:nvSpPr>
          <p:cNvPr id="26" name="Shape 24"/>
          <p:cNvSpPr/>
          <p:nvPr/>
        </p:nvSpPr>
        <p:spPr>
          <a:xfrm flipV="1">
            <a:off x="8397240" y="4210968"/>
            <a:ext cx="70104" cy="49857"/>
          </a:xfrm>
          <a:prstGeom prst="line">
            <a:avLst/>
          </a:prstGeom>
          <a:noFill/>
          <a:ln w="31750">
            <a:solidFill>
              <a:srgbClr val="5BD1C4"/>
            </a:solidFill>
            <a:prstDash val="solid"/>
          </a:ln>
        </p:spPr>
      </p:sp>
      <p:sp>
        <p:nvSpPr>
          <p:cNvPr id="27" name="Shape 25"/>
          <p:cNvSpPr/>
          <p:nvPr/>
        </p:nvSpPr>
        <p:spPr>
          <a:xfrm flipV="1">
            <a:off x="8467344" y="4162724"/>
            <a:ext cx="70104" cy="48243"/>
          </a:xfrm>
          <a:prstGeom prst="line">
            <a:avLst/>
          </a:prstGeom>
          <a:noFill/>
          <a:ln w="31750">
            <a:solidFill>
              <a:srgbClr val="5BD1C4"/>
            </a:solidFill>
            <a:prstDash val="solid"/>
          </a:ln>
        </p:spPr>
      </p:sp>
      <p:sp>
        <p:nvSpPr>
          <p:cNvPr id="28" name="Shape 26"/>
          <p:cNvSpPr/>
          <p:nvPr/>
        </p:nvSpPr>
        <p:spPr>
          <a:xfrm flipV="1">
            <a:off x="8537448" y="4117306"/>
            <a:ext cx="70104" cy="45418"/>
          </a:xfrm>
          <a:prstGeom prst="line">
            <a:avLst/>
          </a:prstGeom>
          <a:noFill/>
          <a:ln w="31750">
            <a:solidFill>
              <a:srgbClr val="5BD1C4"/>
            </a:solidFill>
            <a:prstDash val="solid"/>
          </a:ln>
        </p:spPr>
      </p:sp>
      <p:sp>
        <p:nvSpPr>
          <p:cNvPr id="29" name="Shape 27"/>
          <p:cNvSpPr/>
          <p:nvPr/>
        </p:nvSpPr>
        <p:spPr>
          <a:xfrm flipV="1">
            <a:off x="8607552" y="4075782"/>
            <a:ext cx="70104" cy="41524"/>
          </a:xfrm>
          <a:prstGeom prst="line">
            <a:avLst/>
          </a:prstGeom>
          <a:noFill/>
          <a:ln w="31750">
            <a:solidFill>
              <a:srgbClr val="5BD1C4"/>
            </a:solidFill>
            <a:prstDash val="solid"/>
          </a:ln>
        </p:spPr>
      </p:sp>
      <p:sp>
        <p:nvSpPr>
          <p:cNvPr id="30" name="Shape 28"/>
          <p:cNvSpPr/>
          <p:nvPr/>
        </p:nvSpPr>
        <p:spPr>
          <a:xfrm flipV="1">
            <a:off x="8677656" y="4039079"/>
            <a:ext cx="70104" cy="36704"/>
          </a:xfrm>
          <a:prstGeom prst="line">
            <a:avLst/>
          </a:prstGeom>
          <a:noFill/>
          <a:ln w="31750">
            <a:solidFill>
              <a:srgbClr val="5BD1C4"/>
            </a:solidFill>
            <a:prstDash val="solid"/>
          </a:ln>
        </p:spPr>
      </p:sp>
      <p:sp>
        <p:nvSpPr>
          <p:cNvPr id="31" name="Shape 29"/>
          <p:cNvSpPr/>
          <p:nvPr/>
        </p:nvSpPr>
        <p:spPr>
          <a:xfrm flipV="1">
            <a:off x="8747760" y="4007979"/>
            <a:ext cx="70104" cy="31099"/>
          </a:xfrm>
          <a:prstGeom prst="line">
            <a:avLst/>
          </a:prstGeom>
          <a:noFill/>
          <a:ln w="31750">
            <a:solidFill>
              <a:srgbClr val="5BD1C4"/>
            </a:solidFill>
            <a:prstDash val="solid"/>
          </a:ln>
        </p:spPr>
      </p:sp>
      <p:sp>
        <p:nvSpPr>
          <p:cNvPr id="32" name="Shape 30"/>
          <p:cNvSpPr/>
          <p:nvPr/>
        </p:nvSpPr>
        <p:spPr>
          <a:xfrm flipV="1">
            <a:off x="8817864" y="3983126"/>
            <a:ext cx="70104" cy="24853"/>
          </a:xfrm>
          <a:prstGeom prst="line">
            <a:avLst/>
          </a:prstGeom>
          <a:noFill/>
          <a:ln w="31750">
            <a:solidFill>
              <a:srgbClr val="5BD1C4"/>
            </a:solidFill>
            <a:prstDash val="solid"/>
          </a:ln>
        </p:spPr>
      </p:sp>
      <p:sp>
        <p:nvSpPr>
          <p:cNvPr id="33" name="Shape 31"/>
          <p:cNvSpPr/>
          <p:nvPr/>
        </p:nvSpPr>
        <p:spPr>
          <a:xfrm flipV="1">
            <a:off x="8887968" y="3965017"/>
            <a:ext cx="70104" cy="18109"/>
          </a:xfrm>
          <a:prstGeom prst="line">
            <a:avLst/>
          </a:prstGeom>
          <a:noFill/>
          <a:ln w="31750">
            <a:solidFill>
              <a:srgbClr val="5BD1C4"/>
            </a:solidFill>
            <a:prstDash val="solid"/>
          </a:ln>
        </p:spPr>
      </p:sp>
      <p:sp>
        <p:nvSpPr>
          <p:cNvPr id="34" name="Shape 32"/>
          <p:cNvSpPr/>
          <p:nvPr/>
        </p:nvSpPr>
        <p:spPr>
          <a:xfrm flipV="1">
            <a:off x="8958072" y="3954009"/>
            <a:ext cx="70104" cy="11008"/>
          </a:xfrm>
          <a:prstGeom prst="line">
            <a:avLst/>
          </a:prstGeom>
          <a:noFill/>
          <a:ln w="31750">
            <a:solidFill>
              <a:srgbClr val="5BD1C4"/>
            </a:solidFill>
            <a:prstDash val="solid"/>
          </a:ln>
        </p:spPr>
      </p:sp>
      <p:sp>
        <p:nvSpPr>
          <p:cNvPr id="35" name="Shape 33"/>
          <p:cNvSpPr/>
          <p:nvPr/>
        </p:nvSpPr>
        <p:spPr>
          <a:xfrm flipV="1">
            <a:off x="9028176" y="3950316"/>
            <a:ext cx="70104" cy="3693"/>
          </a:xfrm>
          <a:prstGeom prst="line">
            <a:avLst/>
          </a:prstGeom>
          <a:noFill/>
          <a:ln w="31750">
            <a:solidFill>
              <a:srgbClr val="5BD1C4"/>
            </a:solidFill>
            <a:prstDash val="solid"/>
          </a:ln>
        </p:spPr>
      </p:sp>
      <p:sp>
        <p:nvSpPr>
          <p:cNvPr id="36" name="Shape 34"/>
          <p:cNvSpPr/>
          <p:nvPr/>
        </p:nvSpPr>
        <p:spPr>
          <a:xfrm>
            <a:off x="9098280" y="3950316"/>
            <a:ext cx="70104" cy="3693"/>
          </a:xfrm>
          <a:prstGeom prst="line">
            <a:avLst/>
          </a:prstGeom>
          <a:noFill/>
          <a:ln w="31750">
            <a:solidFill>
              <a:srgbClr val="5BD1C4"/>
            </a:solidFill>
            <a:prstDash val="solid"/>
          </a:ln>
        </p:spPr>
      </p:sp>
      <p:sp>
        <p:nvSpPr>
          <p:cNvPr id="37" name="Shape 35"/>
          <p:cNvSpPr/>
          <p:nvPr/>
        </p:nvSpPr>
        <p:spPr>
          <a:xfrm>
            <a:off x="9168384" y="3954009"/>
            <a:ext cx="70104" cy="11008"/>
          </a:xfrm>
          <a:prstGeom prst="line">
            <a:avLst/>
          </a:prstGeom>
          <a:noFill/>
          <a:ln w="31750">
            <a:solidFill>
              <a:srgbClr val="5BD1C4"/>
            </a:solidFill>
            <a:prstDash val="solid"/>
          </a:ln>
        </p:spPr>
      </p:sp>
      <p:sp>
        <p:nvSpPr>
          <p:cNvPr id="38" name="Shape 36"/>
          <p:cNvSpPr/>
          <p:nvPr/>
        </p:nvSpPr>
        <p:spPr>
          <a:xfrm>
            <a:off x="9238488" y="3965017"/>
            <a:ext cx="70104" cy="18109"/>
          </a:xfrm>
          <a:prstGeom prst="line">
            <a:avLst/>
          </a:prstGeom>
          <a:noFill/>
          <a:ln w="31750">
            <a:solidFill>
              <a:srgbClr val="5BD1C4"/>
            </a:solidFill>
            <a:prstDash val="solid"/>
          </a:ln>
        </p:spPr>
      </p:sp>
      <p:sp>
        <p:nvSpPr>
          <p:cNvPr id="39" name="Shape 37"/>
          <p:cNvSpPr/>
          <p:nvPr/>
        </p:nvSpPr>
        <p:spPr>
          <a:xfrm>
            <a:off x="9308592" y="3983126"/>
            <a:ext cx="70104" cy="24853"/>
          </a:xfrm>
          <a:prstGeom prst="line">
            <a:avLst/>
          </a:prstGeom>
          <a:noFill/>
          <a:ln w="31750">
            <a:solidFill>
              <a:srgbClr val="5BD1C4"/>
            </a:solidFill>
            <a:prstDash val="solid"/>
          </a:ln>
        </p:spPr>
      </p:sp>
      <p:sp>
        <p:nvSpPr>
          <p:cNvPr id="40" name="Shape 38"/>
          <p:cNvSpPr/>
          <p:nvPr/>
        </p:nvSpPr>
        <p:spPr>
          <a:xfrm>
            <a:off x="9378696" y="4007979"/>
            <a:ext cx="70104" cy="31099"/>
          </a:xfrm>
          <a:prstGeom prst="line">
            <a:avLst/>
          </a:prstGeom>
          <a:noFill/>
          <a:ln w="31750">
            <a:solidFill>
              <a:srgbClr val="5BD1C4"/>
            </a:solidFill>
            <a:prstDash val="solid"/>
          </a:ln>
        </p:spPr>
      </p:sp>
      <p:sp>
        <p:nvSpPr>
          <p:cNvPr id="41" name="Shape 39"/>
          <p:cNvSpPr/>
          <p:nvPr/>
        </p:nvSpPr>
        <p:spPr>
          <a:xfrm>
            <a:off x="9448800" y="4039079"/>
            <a:ext cx="70104" cy="36704"/>
          </a:xfrm>
          <a:prstGeom prst="line">
            <a:avLst/>
          </a:prstGeom>
          <a:noFill/>
          <a:ln w="31750">
            <a:solidFill>
              <a:srgbClr val="5BD1C4"/>
            </a:solidFill>
            <a:prstDash val="solid"/>
          </a:ln>
        </p:spPr>
      </p:sp>
      <p:sp>
        <p:nvSpPr>
          <p:cNvPr id="42" name="Shape 40"/>
          <p:cNvSpPr/>
          <p:nvPr/>
        </p:nvSpPr>
        <p:spPr>
          <a:xfrm>
            <a:off x="9518904" y="4075782"/>
            <a:ext cx="70104" cy="41524"/>
          </a:xfrm>
          <a:prstGeom prst="line">
            <a:avLst/>
          </a:prstGeom>
          <a:noFill/>
          <a:ln w="31750">
            <a:solidFill>
              <a:srgbClr val="5BD1C4"/>
            </a:solidFill>
            <a:prstDash val="solid"/>
          </a:ln>
        </p:spPr>
      </p:sp>
      <p:sp>
        <p:nvSpPr>
          <p:cNvPr id="43" name="Shape 41"/>
          <p:cNvSpPr/>
          <p:nvPr/>
        </p:nvSpPr>
        <p:spPr>
          <a:xfrm>
            <a:off x="9589008" y="4117306"/>
            <a:ext cx="70104" cy="45418"/>
          </a:xfrm>
          <a:prstGeom prst="line">
            <a:avLst/>
          </a:prstGeom>
          <a:noFill/>
          <a:ln w="31750">
            <a:solidFill>
              <a:srgbClr val="5BD1C4"/>
            </a:solidFill>
            <a:prstDash val="solid"/>
          </a:ln>
        </p:spPr>
      </p:sp>
      <p:sp>
        <p:nvSpPr>
          <p:cNvPr id="44" name="Shape 42"/>
          <p:cNvSpPr/>
          <p:nvPr/>
        </p:nvSpPr>
        <p:spPr>
          <a:xfrm>
            <a:off x="9659112" y="4162724"/>
            <a:ext cx="70104" cy="48243"/>
          </a:xfrm>
          <a:prstGeom prst="line">
            <a:avLst/>
          </a:prstGeom>
          <a:noFill/>
          <a:ln w="31750">
            <a:solidFill>
              <a:srgbClr val="5BD1C4"/>
            </a:solidFill>
            <a:prstDash val="solid"/>
          </a:ln>
        </p:spPr>
      </p:sp>
      <p:sp>
        <p:nvSpPr>
          <p:cNvPr id="45" name="Shape 43"/>
          <p:cNvSpPr/>
          <p:nvPr/>
        </p:nvSpPr>
        <p:spPr>
          <a:xfrm>
            <a:off x="9729216" y="4210968"/>
            <a:ext cx="70104" cy="49857"/>
          </a:xfrm>
          <a:prstGeom prst="line">
            <a:avLst/>
          </a:prstGeom>
          <a:noFill/>
          <a:ln w="31750">
            <a:solidFill>
              <a:srgbClr val="5BD1C4"/>
            </a:solidFill>
            <a:prstDash val="solid"/>
          </a:ln>
        </p:spPr>
      </p:sp>
      <p:sp>
        <p:nvSpPr>
          <p:cNvPr id="46" name="Shape 44"/>
          <p:cNvSpPr/>
          <p:nvPr/>
        </p:nvSpPr>
        <p:spPr>
          <a:xfrm>
            <a:off x="9799320" y="4260824"/>
            <a:ext cx="70104" cy="50116"/>
          </a:xfrm>
          <a:prstGeom prst="line">
            <a:avLst/>
          </a:prstGeom>
          <a:noFill/>
          <a:ln w="31750">
            <a:solidFill>
              <a:srgbClr val="5BD1C4"/>
            </a:solidFill>
            <a:prstDash val="solid"/>
          </a:ln>
        </p:spPr>
      </p:sp>
      <p:sp>
        <p:nvSpPr>
          <p:cNvPr id="47" name="Shape 45"/>
          <p:cNvSpPr/>
          <p:nvPr/>
        </p:nvSpPr>
        <p:spPr>
          <a:xfrm>
            <a:off x="9869424" y="4310940"/>
            <a:ext cx="70104" cy="48879"/>
          </a:xfrm>
          <a:prstGeom prst="line">
            <a:avLst/>
          </a:prstGeom>
          <a:noFill/>
          <a:ln w="31750">
            <a:solidFill>
              <a:srgbClr val="5BD1C4"/>
            </a:solidFill>
            <a:prstDash val="solid"/>
          </a:ln>
        </p:spPr>
      </p:sp>
      <p:sp>
        <p:nvSpPr>
          <p:cNvPr id="48" name="Shape 46"/>
          <p:cNvSpPr/>
          <p:nvPr/>
        </p:nvSpPr>
        <p:spPr>
          <a:xfrm>
            <a:off x="9939528" y="4359819"/>
            <a:ext cx="70104" cy="46002"/>
          </a:xfrm>
          <a:prstGeom prst="line">
            <a:avLst/>
          </a:prstGeom>
          <a:noFill/>
          <a:ln w="31750">
            <a:solidFill>
              <a:srgbClr val="5BD1C4"/>
            </a:solidFill>
            <a:prstDash val="solid"/>
          </a:ln>
        </p:spPr>
      </p:sp>
      <p:sp>
        <p:nvSpPr>
          <p:cNvPr id="49" name="Shape 47"/>
          <p:cNvSpPr/>
          <p:nvPr/>
        </p:nvSpPr>
        <p:spPr>
          <a:xfrm>
            <a:off x="10009632" y="4405821"/>
            <a:ext cx="70104" cy="41344"/>
          </a:xfrm>
          <a:prstGeom prst="line">
            <a:avLst/>
          </a:prstGeom>
          <a:noFill/>
          <a:ln w="31750">
            <a:solidFill>
              <a:srgbClr val="5BD1C4"/>
            </a:solidFill>
            <a:prstDash val="solid"/>
          </a:ln>
        </p:spPr>
      </p:sp>
      <p:sp>
        <p:nvSpPr>
          <p:cNvPr id="50" name="Shape 48"/>
          <p:cNvSpPr/>
          <p:nvPr/>
        </p:nvSpPr>
        <p:spPr>
          <a:xfrm>
            <a:off x="10079736" y="4447165"/>
            <a:ext cx="70104" cy="34762"/>
          </a:xfrm>
          <a:prstGeom prst="line">
            <a:avLst/>
          </a:prstGeom>
          <a:noFill/>
          <a:ln w="31750">
            <a:solidFill>
              <a:srgbClr val="5BD1C4"/>
            </a:solidFill>
            <a:prstDash val="solid"/>
          </a:ln>
        </p:spPr>
      </p:sp>
      <p:sp>
        <p:nvSpPr>
          <p:cNvPr id="51" name="Shape 49"/>
          <p:cNvSpPr/>
          <p:nvPr/>
        </p:nvSpPr>
        <p:spPr>
          <a:xfrm>
            <a:off x="10149840" y="4481927"/>
            <a:ext cx="70104" cy="26113"/>
          </a:xfrm>
          <a:prstGeom prst="line">
            <a:avLst/>
          </a:prstGeom>
          <a:noFill/>
          <a:ln w="31750">
            <a:solidFill>
              <a:srgbClr val="5BD1C4"/>
            </a:solidFill>
            <a:prstDash val="solid"/>
          </a:ln>
        </p:spPr>
      </p:sp>
      <p:sp>
        <p:nvSpPr>
          <p:cNvPr id="52" name="Shape 50"/>
          <p:cNvSpPr/>
          <p:nvPr/>
        </p:nvSpPr>
        <p:spPr>
          <a:xfrm>
            <a:off x="10219944" y="4508040"/>
            <a:ext cx="70104" cy="15255"/>
          </a:xfrm>
          <a:prstGeom prst="line">
            <a:avLst/>
          </a:prstGeom>
          <a:noFill/>
          <a:ln w="31750">
            <a:solidFill>
              <a:srgbClr val="5BD1C4"/>
            </a:solidFill>
            <a:prstDash val="solid"/>
          </a:ln>
        </p:spPr>
      </p:sp>
      <p:sp>
        <p:nvSpPr>
          <p:cNvPr id="53" name="Shape 51"/>
          <p:cNvSpPr/>
          <p:nvPr/>
        </p:nvSpPr>
        <p:spPr>
          <a:xfrm>
            <a:off x="10290048" y="4523295"/>
            <a:ext cx="70104" cy="2045"/>
          </a:xfrm>
          <a:prstGeom prst="line">
            <a:avLst/>
          </a:prstGeom>
          <a:noFill/>
          <a:ln w="31750">
            <a:solidFill>
              <a:srgbClr val="5BD1C4"/>
            </a:solidFill>
            <a:prstDash val="solid"/>
          </a:ln>
        </p:spPr>
      </p:sp>
      <p:sp>
        <p:nvSpPr>
          <p:cNvPr id="54" name="Shape 52"/>
          <p:cNvSpPr/>
          <p:nvPr/>
        </p:nvSpPr>
        <p:spPr>
          <a:xfrm flipV="1">
            <a:off x="10360152" y="4511680"/>
            <a:ext cx="70104" cy="13660"/>
          </a:xfrm>
          <a:prstGeom prst="line">
            <a:avLst/>
          </a:prstGeom>
          <a:noFill/>
          <a:ln w="31750">
            <a:solidFill>
              <a:srgbClr val="5BD1C4"/>
            </a:solidFill>
            <a:prstDash val="solid"/>
          </a:ln>
        </p:spPr>
      </p:sp>
      <p:sp>
        <p:nvSpPr>
          <p:cNvPr id="55" name="Shape 53"/>
          <p:cNvSpPr/>
          <p:nvPr/>
        </p:nvSpPr>
        <p:spPr>
          <a:xfrm flipV="1">
            <a:off x="10430256" y="4479680"/>
            <a:ext cx="70104" cy="32001"/>
          </a:xfrm>
          <a:prstGeom prst="line">
            <a:avLst/>
          </a:prstGeom>
          <a:noFill/>
          <a:ln w="31750">
            <a:solidFill>
              <a:srgbClr val="5BD1C4"/>
            </a:solidFill>
            <a:prstDash val="solid"/>
          </a:ln>
        </p:spPr>
      </p:sp>
      <p:sp>
        <p:nvSpPr>
          <p:cNvPr id="56" name="Shape 54"/>
          <p:cNvSpPr/>
          <p:nvPr/>
        </p:nvSpPr>
        <p:spPr>
          <a:xfrm flipV="1">
            <a:off x="10500360" y="4426558"/>
            <a:ext cx="70104" cy="53121"/>
          </a:xfrm>
          <a:prstGeom prst="line">
            <a:avLst/>
          </a:prstGeom>
          <a:noFill/>
          <a:ln w="31750">
            <a:solidFill>
              <a:srgbClr val="5BD1C4"/>
            </a:solidFill>
            <a:prstDash val="solid"/>
          </a:ln>
        </p:spPr>
      </p:sp>
      <p:sp>
        <p:nvSpPr>
          <p:cNvPr id="57" name="Shape 55"/>
          <p:cNvSpPr/>
          <p:nvPr/>
        </p:nvSpPr>
        <p:spPr>
          <a:xfrm flipV="1">
            <a:off x="10570464" y="4349394"/>
            <a:ext cx="70104" cy="77164"/>
          </a:xfrm>
          <a:prstGeom prst="line">
            <a:avLst/>
          </a:prstGeom>
          <a:noFill/>
          <a:ln w="31750">
            <a:solidFill>
              <a:srgbClr val="5BD1C4"/>
            </a:solidFill>
            <a:prstDash val="solid"/>
          </a:ln>
        </p:spPr>
      </p:sp>
      <p:sp>
        <p:nvSpPr>
          <p:cNvPr id="58" name="Shape 56"/>
          <p:cNvSpPr/>
          <p:nvPr/>
        </p:nvSpPr>
        <p:spPr>
          <a:xfrm flipV="1">
            <a:off x="10640568" y="4245123"/>
            <a:ext cx="70104" cy="104271"/>
          </a:xfrm>
          <a:prstGeom prst="line">
            <a:avLst/>
          </a:prstGeom>
          <a:noFill/>
          <a:ln w="31750">
            <a:solidFill>
              <a:srgbClr val="5BD1C4"/>
            </a:solidFill>
            <a:prstDash val="solid"/>
          </a:ln>
        </p:spPr>
      </p:sp>
      <p:sp>
        <p:nvSpPr>
          <p:cNvPr id="59" name="Shape 57"/>
          <p:cNvSpPr/>
          <p:nvPr/>
        </p:nvSpPr>
        <p:spPr>
          <a:xfrm flipV="1">
            <a:off x="10710672" y="4110538"/>
            <a:ext cx="70104" cy="134585"/>
          </a:xfrm>
          <a:prstGeom prst="line">
            <a:avLst/>
          </a:prstGeom>
          <a:noFill/>
          <a:ln w="31750">
            <a:solidFill>
              <a:srgbClr val="5BD1C4"/>
            </a:solidFill>
            <a:prstDash val="solid"/>
          </a:ln>
        </p:spPr>
      </p:sp>
      <p:sp>
        <p:nvSpPr>
          <p:cNvPr id="60" name="Shape 58"/>
          <p:cNvSpPr/>
          <p:nvPr/>
        </p:nvSpPr>
        <p:spPr>
          <a:xfrm flipV="1">
            <a:off x="10780776" y="3942289"/>
            <a:ext cx="70104" cy="168249"/>
          </a:xfrm>
          <a:prstGeom prst="line">
            <a:avLst/>
          </a:prstGeom>
          <a:noFill/>
          <a:ln w="31750">
            <a:solidFill>
              <a:srgbClr val="5BD1C4"/>
            </a:solidFill>
            <a:prstDash val="solid"/>
          </a:ln>
        </p:spPr>
      </p:sp>
      <p:sp>
        <p:nvSpPr>
          <p:cNvPr id="61" name="Shape 59"/>
          <p:cNvSpPr/>
          <p:nvPr/>
        </p:nvSpPr>
        <p:spPr>
          <a:xfrm flipV="1">
            <a:off x="10850880" y="3736885"/>
            <a:ext cx="70104" cy="205404"/>
          </a:xfrm>
          <a:prstGeom prst="line">
            <a:avLst/>
          </a:prstGeom>
          <a:noFill/>
          <a:ln w="31750">
            <a:solidFill>
              <a:srgbClr val="5BD1C4"/>
            </a:solidFill>
            <a:prstDash val="solid"/>
          </a:ln>
        </p:spPr>
      </p:sp>
      <p:sp>
        <p:nvSpPr>
          <p:cNvPr id="62" name="Shape 60"/>
          <p:cNvSpPr/>
          <p:nvPr/>
        </p:nvSpPr>
        <p:spPr>
          <a:xfrm flipV="1">
            <a:off x="10920984" y="3490690"/>
            <a:ext cx="70104" cy="246195"/>
          </a:xfrm>
          <a:prstGeom prst="line">
            <a:avLst/>
          </a:prstGeom>
          <a:noFill/>
          <a:ln w="31750">
            <a:solidFill>
              <a:srgbClr val="5BD1C4"/>
            </a:solidFill>
            <a:prstDash val="solid"/>
          </a:ln>
        </p:spPr>
      </p:sp>
      <p:sp>
        <p:nvSpPr>
          <p:cNvPr id="63" name="Shape 61"/>
          <p:cNvSpPr/>
          <p:nvPr/>
        </p:nvSpPr>
        <p:spPr>
          <a:xfrm flipV="1">
            <a:off x="10991088" y="3199928"/>
            <a:ext cx="70104" cy="290762"/>
          </a:xfrm>
          <a:prstGeom prst="line">
            <a:avLst/>
          </a:prstGeom>
          <a:noFill/>
          <a:ln w="31750">
            <a:solidFill>
              <a:srgbClr val="5BD1C4"/>
            </a:solidFill>
            <a:prstDash val="solid"/>
          </a:ln>
        </p:spPr>
      </p:sp>
      <p:sp>
        <p:nvSpPr>
          <p:cNvPr id="64" name="Shape 62"/>
          <p:cNvSpPr/>
          <p:nvPr/>
        </p:nvSpPr>
        <p:spPr>
          <a:xfrm flipV="1">
            <a:off x="11061192" y="2860679"/>
            <a:ext cx="70104" cy="339249"/>
          </a:xfrm>
          <a:prstGeom prst="line">
            <a:avLst/>
          </a:prstGeom>
          <a:noFill/>
          <a:ln w="31750">
            <a:solidFill>
              <a:srgbClr val="5BD1C4"/>
            </a:solidFill>
            <a:prstDash val="solid"/>
          </a:ln>
        </p:spPr>
      </p:sp>
      <p:sp>
        <p:nvSpPr>
          <p:cNvPr id="65" name="Shape 63"/>
          <p:cNvSpPr/>
          <p:nvPr/>
        </p:nvSpPr>
        <p:spPr>
          <a:xfrm flipV="1">
            <a:off x="11131296" y="2468880"/>
            <a:ext cx="70104" cy="391799"/>
          </a:xfrm>
          <a:prstGeom prst="line">
            <a:avLst/>
          </a:prstGeom>
          <a:noFill/>
          <a:ln w="31750">
            <a:solidFill>
              <a:srgbClr val="5BD1C4"/>
            </a:solidFill>
            <a:prstDash val="solid"/>
          </a:ln>
        </p:spPr>
      </p:sp>
      <p:sp>
        <p:nvSpPr>
          <p:cNvPr id="66" name="Shape 64"/>
          <p:cNvSpPr/>
          <p:nvPr/>
        </p:nvSpPr>
        <p:spPr>
          <a:xfrm>
            <a:off x="10241280" y="4287596"/>
            <a:ext cx="237744" cy="237744"/>
          </a:xfrm>
          <a:prstGeom prst="ellipse">
            <a:avLst/>
          </a:prstGeom>
          <a:solidFill>
            <a:srgbClr val="F2B134"/>
          </a:solidFill>
          <a:ln w="12700">
            <a:solidFill>
              <a:srgbClr val="F2B134"/>
            </a:solidFill>
            <a:prstDash val="solid"/>
          </a:ln>
        </p:spPr>
      </p:sp>
      <p:sp>
        <p:nvSpPr>
          <p:cNvPr id="67" name="Text 65"/>
          <p:cNvSpPr txBox="1"/>
          <p:nvPr/>
        </p:nvSpPr>
        <p:spPr>
          <a:xfrm>
            <a:off x="8394192" y="3401568"/>
            <a:ext cx="1828800" cy="274320"/>
          </a:xfrm>
          <a:prstGeom prst="rect">
            <a:avLst/>
          </a:prstGeom>
          <a:noFill/>
          <a:ln/>
        </p:spPr>
        <p:txBody>
          <a:bodyPr wrap="square" lIns="0" tIns="0" rIns="0" bIns="0" rtlCol="0" anchor="ctr"/>
          <a:lstStyle/>
          <a:p>
            <a:pPr algn="r" indent="0" marL="0">
              <a:buNone/>
            </a:pPr>
            <a:r>
              <a:rPr lang="en-US" sz="1100" b="1" dirty="0">
                <a:solidFill>
                  <a:srgbClr val="F2B134"/>
                </a:solidFill>
                <a:latin typeface="Calibri" pitchFamily="34" charset="0"/>
                <a:ea typeface="Calibri" pitchFamily="34" charset="-122"/>
                <a:cs typeface="Calibri" pitchFamily="34" charset="-120"/>
              </a:rPr>
              <a:t>the field sits here</a:t>
            </a:r>
            <a:endParaRPr lang="en-US" sz="1100" dirty="0"/>
          </a:p>
        </p:txBody>
      </p:sp>
      <p:sp>
        <p:nvSpPr>
          <p:cNvPr id="68" name="Text 66"/>
          <p:cNvSpPr txBox="1"/>
          <p:nvPr/>
        </p:nvSpPr>
        <p:spPr>
          <a:xfrm>
            <a:off x="8366760" y="2148840"/>
            <a:ext cx="1463040" cy="274320"/>
          </a:xfrm>
          <a:prstGeom prst="rect">
            <a:avLst/>
          </a:prstGeom>
          <a:noFill/>
          <a:ln/>
        </p:spPr>
        <p:txBody>
          <a:bodyPr wrap="square" lIns="0" tIns="0" rIns="0" bIns="0" rtlCol="0" anchor="ctr"/>
          <a:lstStyle/>
          <a:p>
            <a:pPr algn="ctr" indent="0" marL="0">
              <a:buNone/>
            </a:pPr>
            <a:r>
              <a:rPr lang="en-US" sz="1100" dirty="0">
                <a:solidFill>
                  <a:srgbClr val="94A3C8"/>
                </a:solidFill>
                <a:latin typeface="Calibri" pitchFamily="34" charset="0"/>
                <a:ea typeface="Calibri" pitchFamily="34" charset="-122"/>
                <a:cs typeface="Calibri" pitchFamily="34" charset="-120"/>
              </a:rPr>
              <a:t>not at zero</a:t>
            </a:r>
            <a:endParaRPr lang="en-US" sz="1100" dirty="0"/>
          </a:p>
        </p:txBody>
      </p:sp>
      <p:sp>
        <p:nvSpPr>
          <p:cNvPr id="69" name="Text 67"/>
          <p:cNvSpPr txBox="1"/>
          <p:nvPr/>
        </p:nvSpPr>
        <p:spPr>
          <a:xfrm>
            <a:off x="6995160" y="4617720"/>
            <a:ext cx="4206240" cy="274320"/>
          </a:xfrm>
          <a:prstGeom prst="rect">
            <a:avLst/>
          </a:prstGeom>
          <a:noFill/>
          <a:ln/>
        </p:spPr>
        <p:txBody>
          <a:bodyPr wrap="square" lIns="0" tIns="0" rIns="0" bIns="0" rtlCol="0" anchor="ctr"/>
          <a:lstStyle/>
          <a:p>
            <a:pPr indent="0" marL="0">
              <a:buNone/>
            </a:pPr>
            <a:r>
              <a:rPr lang="en-US" sz="1200" i="1" dirty="0">
                <a:solidFill>
                  <a:srgbClr val="94A3C8"/>
                </a:solidFill>
                <a:latin typeface="Calibri" pitchFamily="34" charset="0"/>
                <a:ea typeface="Calibri" pitchFamily="34" charset="-122"/>
                <a:cs typeface="Calibri" pitchFamily="34" charset="-120"/>
              </a:rPr>
              <a:t>The Higgs potential</a:t>
            </a:r>
            <a:endParaRPr lang="en-US" sz="1200" dirty="0"/>
          </a:p>
        </p:txBody>
      </p:sp>
      <p:sp>
        <p:nvSpPr>
          <p:cNvPr id="70" name="Text 68"/>
          <p:cNvSpPr txBox="1"/>
          <p:nvPr/>
        </p:nvSpPr>
        <p:spPr>
          <a:xfrm>
            <a:off x="640080" y="5212080"/>
            <a:ext cx="10908792" cy="457200"/>
          </a:xfrm>
          <a:prstGeom prst="rect">
            <a:avLst/>
          </a:prstGeom>
          <a:noFill/>
          <a:ln/>
        </p:spPr>
        <p:txBody>
          <a:bodyPr wrap="square" lIns="0" tIns="0" rIns="0" bIns="0" rtlCol="0" anchor="ctr"/>
          <a:lstStyle/>
          <a:p>
            <a:pPr indent="0" marL="0">
              <a:buNone/>
            </a:pPr>
            <a:r>
              <a:rPr lang="en-US" sz="1900" b="1" i="1" dirty="0">
                <a:solidFill>
                  <a:srgbClr val="F2B134"/>
                </a:solidFill>
                <a:latin typeface="Cambria" pitchFamily="34" charset="0"/>
                <a:ea typeface="Cambria" pitchFamily="34" charset="-122"/>
                <a:cs typeface="Cambria" pitchFamily="34" charset="-120"/>
              </a:rPr>
              <a:t>The Higgs field was switched on at the beginning and left on. Mass is what it feels like to be stuck to it.</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631"/>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300" b="1" spc="200" kern="0" dirty="0">
                <a:solidFill>
                  <a:srgbClr val="F2B134"/>
                </a:solidFill>
                <a:latin typeface="Calibri" pitchFamily="34" charset="0"/>
                <a:ea typeface="Calibri" pitchFamily="34" charset="-122"/>
                <a:cs typeface="Calibri" pitchFamily="34" charset="-120"/>
              </a:rPr>
              <a:t>PUTTING IT TOGETHER</a:t>
            </a:r>
            <a:endParaRPr lang="en-US" sz="13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600" b="1" dirty="0">
                <a:solidFill>
                  <a:srgbClr val="DCE3F5"/>
                </a:solidFill>
                <a:latin typeface="Cambria" pitchFamily="34" charset="0"/>
                <a:ea typeface="Cambria" pitchFamily="34" charset="-122"/>
                <a:cs typeface="Cambria" pitchFamily="34" charset="-120"/>
              </a:rPr>
              <a:t>Reading the shirt, term by term</a:t>
            </a:r>
            <a:endParaRPr lang="en-US" sz="3600" dirty="0"/>
          </a:p>
        </p:txBody>
      </p:sp>
      <p:sp>
        <p:nvSpPr>
          <p:cNvPr id="4" name="Shape 2"/>
          <p:cNvSpPr/>
          <p:nvPr/>
        </p:nvSpPr>
        <p:spPr>
          <a:xfrm>
            <a:off x="640080" y="1691640"/>
            <a:ext cx="10908792" cy="621792"/>
          </a:xfrm>
          <a:prstGeom prst="roundRect">
            <a:avLst>
              <a:gd name="adj" fmla="val 11765"/>
            </a:avLst>
          </a:prstGeom>
          <a:solidFill>
            <a:srgbClr val="1A2450"/>
          </a:solidFill>
          <a:ln w="12700">
            <a:solidFill>
              <a:srgbClr val="212C5C"/>
            </a:solidFill>
            <a:prstDash val="solid"/>
          </a:ln>
        </p:spPr>
      </p:sp>
      <p:sp>
        <p:nvSpPr>
          <p:cNvPr id="5" name="Shape 3"/>
          <p:cNvSpPr/>
          <p:nvPr/>
        </p:nvSpPr>
        <p:spPr>
          <a:xfrm>
            <a:off x="868680" y="1819656"/>
            <a:ext cx="365760" cy="365760"/>
          </a:xfrm>
          <a:prstGeom prst="ellipse">
            <a:avLst/>
          </a:prstGeom>
          <a:solidFill>
            <a:srgbClr val="F2B134"/>
          </a:solidFill>
          <a:ln w="12700">
            <a:solidFill>
              <a:srgbClr val="F2B134"/>
            </a:solidFill>
            <a:prstDash val="solid"/>
          </a:ln>
        </p:spPr>
      </p:sp>
      <p:sp>
        <p:nvSpPr>
          <p:cNvPr id="6" name="Text 4"/>
          <p:cNvSpPr txBox="1"/>
          <p:nvPr/>
        </p:nvSpPr>
        <p:spPr>
          <a:xfrm>
            <a:off x="868680" y="1819656"/>
            <a:ext cx="365760" cy="365760"/>
          </a:xfrm>
          <a:prstGeom prst="rect">
            <a:avLst/>
          </a:prstGeom>
          <a:noFill/>
          <a:ln/>
        </p:spPr>
        <p:txBody>
          <a:bodyPr wrap="square" lIns="0" tIns="0" rIns="0" bIns="0" rtlCol="0" anchor="ctr"/>
          <a:lstStyle/>
          <a:p>
            <a:pPr algn="ctr" indent="0" marL="0">
              <a:buNone/>
            </a:pPr>
            <a:r>
              <a:rPr lang="en-US" sz="1300" b="1" dirty="0">
                <a:solidFill>
                  <a:srgbClr val="0E1631"/>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1371600" y="1691640"/>
            <a:ext cx="1234440" cy="621792"/>
          </a:xfrm>
          <a:prstGeom prst="rect">
            <a:avLst/>
          </a:prstGeom>
          <a:noFill/>
          <a:ln/>
        </p:spPr>
        <p:txBody>
          <a:bodyPr wrap="square" lIns="0" tIns="0" rIns="0" bIns="0" rtlCol="0" anchor="ctr"/>
          <a:lstStyle/>
          <a:p>
            <a:pPr indent="0" marL="0">
              <a:buNone/>
            </a:pPr>
            <a:r>
              <a:rPr lang="en-US" sz="2100" b="1" dirty="0">
                <a:solidFill>
                  <a:srgbClr val="F2B134"/>
                </a:solidFill>
                <a:latin typeface="Cambria" pitchFamily="34" charset="0"/>
                <a:ea typeface="Cambria" pitchFamily="34" charset="-122"/>
                <a:cs typeface="Cambria" pitchFamily="34" charset="-120"/>
              </a:rPr>
              <a:t>ψ</a:t>
            </a:r>
            <a:endParaRPr lang="en-US" sz="2100" dirty="0"/>
          </a:p>
        </p:txBody>
      </p:sp>
      <p:sp>
        <p:nvSpPr>
          <p:cNvPr id="8" name="Text 6"/>
          <p:cNvSpPr txBox="1"/>
          <p:nvPr/>
        </p:nvSpPr>
        <p:spPr>
          <a:xfrm>
            <a:off x="2651760" y="1691640"/>
            <a:ext cx="3200400" cy="621792"/>
          </a:xfrm>
          <a:prstGeom prst="rect">
            <a:avLst/>
          </a:prstGeom>
          <a:noFill/>
          <a:ln/>
        </p:spPr>
        <p:txBody>
          <a:bodyPr wrap="square" lIns="0" tIns="0" rIns="0" bIns="0" rtlCol="0" anchor="ctr"/>
          <a:lstStyle/>
          <a:p>
            <a:pPr indent="0" marL="0">
              <a:buNone/>
            </a:pPr>
            <a:r>
              <a:rPr lang="en-US" sz="1500" b="1" dirty="0">
                <a:solidFill>
                  <a:srgbClr val="DCE3F5"/>
                </a:solidFill>
                <a:latin typeface="Calibri" pitchFamily="34" charset="0"/>
                <a:ea typeface="Calibri" pitchFamily="34" charset="-122"/>
                <a:cs typeface="Calibri" pitchFamily="34" charset="-120"/>
              </a:rPr>
              <a:t>The matter fields</a:t>
            </a:r>
            <a:endParaRPr lang="en-US" sz="1500" dirty="0"/>
          </a:p>
        </p:txBody>
      </p:sp>
      <p:sp>
        <p:nvSpPr>
          <p:cNvPr id="9" name="Text 7"/>
          <p:cNvSpPr txBox="1"/>
          <p:nvPr/>
        </p:nvSpPr>
        <p:spPr>
          <a:xfrm>
            <a:off x="5943600" y="1691640"/>
            <a:ext cx="5394960" cy="621792"/>
          </a:xfrm>
          <a:prstGeom prst="rect">
            <a:avLst/>
          </a:prstGeom>
          <a:noFill/>
          <a:ln/>
        </p:spPr>
        <p:txBody>
          <a:bodyPr wrap="square" lIns="0" tIns="0" rIns="0" bIns="0" rtlCol="0" anchor="ctr"/>
          <a:lstStyle/>
          <a:p>
            <a:pPr indent="0" marL="0">
              <a:buNone/>
            </a:pPr>
            <a:r>
              <a:rPr lang="en-US" sz="1400" dirty="0">
                <a:solidFill>
                  <a:srgbClr val="94A3C8"/>
                </a:solidFill>
                <a:latin typeface="Calibri" pitchFamily="34" charset="0"/>
                <a:ea typeface="Calibri" pitchFamily="34" charset="-122"/>
                <a:cs typeface="Calibri" pitchFamily="34" charset="-120"/>
              </a:rPr>
              <a:t>Quarks and leptons, three generations.</a:t>
            </a:r>
            <a:endParaRPr lang="en-US" sz="1400" dirty="0"/>
          </a:p>
        </p:txBody>
      </p:sp>
      <p:sp>
        <p:nvSpPr>
          <p:cNvPr id="10" name="Shape 8"/>
          <p:cNvSpPr/>
          <p:nvPr/>
        </p:nvSpPr>
        <p:spPr>
          <a:xfrm>
            <a:off x="640080" y="2450592"/>
            <a:ext cx="10908792" cy="621792"/>
          </a:xfrm>
          <a:prstGeom prst="roundRect">
            <a:avLst>
              <a:gd name="adj" fmla="val 11765"/>
            </a:avLst>
          </a:prstGeom>
          <a:solidFill>
            <a:srgbClr val="212C5C"/>
          </a:solidFill>
          <a:ln w="12700">
            <a:solidFill>
              <a:srgbClr val="212C5C"/>
            </a:solidFill>
            <a:prstDash val="solid"/>
          </a:ln>
        </p:spPr>
      </p:sp>
      <p:sp>
        <p:nvSpPr>
          <p:cNvPr id="11" name="Shape 9"/>
          <p:cNvSpPr/>
          <p:nvPr/>
        </p:nvSpPr>
        <p:spPr>
          <a:xfrm>
            <a:off x="868680" y="2578608"/>
            <a:ext cx="365760" cy="365760"/>
          </a:xfrm>
          <a:prstGeom prst="ellipse">
            <a:avLst/>
          </a:prstGeom>
          <a:solidFill>
            <a:srgbClr val="F2B134"/>
          </a:solidFill>
          <a:ln w="12700">
            <a:solidFill>
              <a:srgbClr val="F2B134"/>
            </a:solidFill>
            <a:prstDash val="solid"/>
          </a:ln>
        </p:spPr>
      </p:sp>
      <p:sp>
        <p:nvSpPr>
          <p:cNvPr id="12" name="Text 10"/>
          <p:cNvSpPr txBox="1"/>
          <p:nvPr/>
        </p:nvSpPr>
        <p:spPr>
          <a:xfrm>
            <a:off x="868680" y="2578608"/>
            <a:ext cx="365760" cy="365760"/>
          </a:xfrm>
          <a:prstGeom prst="rect">
            <a:avLst/>
          </a:prstGeom>
          <a:noFill/>
          <a:ln/>
        </p:spPr>
        <p:txBody>
          <a:bodyPr wrap="square" lIns="0" tIns="0" rIns="0" bIns="0" rtlCol="0" anchor="ctr"/>
          <a:lstStyle/>
          <a:p>
            <a:pPr algn="ctr" indent="0" marL="0">
              <a:buNone/>
            </a:pPr>
            <a:r>
              <a:rPr lang="en-US" sz="1300" b="1" dirty="0">
                <a:solidFill>
                  <a:srgbClr val="0E1631"/>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1371600" y="2450592"/>
            <a:ext cx="1234440" cy="621792"/>
          </a:xfrm>
          <a:prstGeom prst="rect">
            <a:avLst/>
          </a:prstGeom>
          <a:noFill/>
          <a:ln/>
        </p:spPr>
        <p:txBody>
          <a:bodyPr wrap="square" lIns="0" tIns="0" rIns="0" bIns="0" rtlCol="0" anchor="ctr"/>
          <a:lstStyle/>
          <a:p>
            <a:pPr indent="0" marL="0">
              <a:buNone/>
            </a:pPr>
            <a:r>
              <a:rPr lang="en-US" sz="2100" b="1" dirty="0">
                <a:solidFill>
                  <a:srgbClr val="F2B134"/>
                </a:solidFill>
                <a:latin typeface="Cambria" pitchFamily="34" charset="0"/>
                <a:ea typeface="Cambria" pitchFamily="34" charset="-122"/>
                <a:cs typeface="Cambria" pitchFamily="34" charset="-120"/>
              </a:rPr>
              <a:t>∂μ</a:t>
            </a:r>
            <a:endParaRPr lang="en-US" sz="2100" dirty="0"/>
          </a:p>
        </p:txBody>
      </p:sp>
      <p:sp>
        <p:nvSpPr>
          <p:cNvPr id="14" name="Text 12"/>
          <p:cNvSpPr txBox="1"/>
          <p:nvPr/>
        </p:nvSpPr>
        <p:spPr>
          <a:xfrm>
            <a:off x="2651760" y="2450592"/>
            <a:ext cx="3200400" cy="621792"/>
          </a:xfrm>
          <a:prstGeom prst="rect">
            <a:avLst/>
          </a:prstGeom>
          <a:noFill/>
          <a:ln/>
        </p:spPr>
        <p:txBody>
          <a:bodyPr wrap="square" lIns="0" tIns="0" rIns="0" bIns="0" rtlCol="0" anchor="ctr"/>
          <a:lstStyle/>
          <a:p>
            <a:pPr indent="0" marL="0">
              <a:buNone/>
            </a:pPr>
            <a:r>
              <a:rPr lang="en-US" sz="1500" b="1" dirty="0">
                <a:solidFill>
                  <a:srgbClr val="DCE3F5"/>
                </a:solidFill>
                <a:latin typeface="Calibri" pitchFamily="34" charset="0"/>
                <a:ea typeface="Calibri" pitchFamily="34" charset="-122"/>
                <a:cs typeface="Calibri" pitchFamily="34" charset="-120"/>
              </a:rPr>
              <a:t>The derivative</a:t>
            </a:r>
            <a:endParaRPr lang="en-US" sz="1500" dirty="0"/>
          </a:p>
        </p:txBody>
      </p:sp>
      <p:sp>
        <p:nvSpPr>
          <p:cNvPr id="15" name="Text 13"/>
          <p:cNvSpPr txBox="1"/>
          <p:nvPr/>
        </p:nvSpPr>
        <p:spPr>
          <a:xfrm>
            <a:off x="5943600" y="2450592"/>
            <a:ext cx="5394960" cy="621792"/>
          </a:xfrm>
          <a:prstGeom prst="rect">
            <a:avLst/>
          </a:prstGeom>
          <a:noFill/>
          <a:ln/>
        </p:spPr>
        <p:txBody>
          <a:bodyPr wrap="square" lIns="0" tIns="0" rIns="0" bIns="0" rtlCol="0" anchor="ctr"/>
          <a:lstStyle/>
          <a:p>
            <a:pPr indent="0" marL="0">
              <a:buNone/>
            </a:pPr>
            <a:r>
              <a:rPr lang="en-US" sz="1400" dirty="0">
                <a:solidFill>
                  <a:srgbClr val="94A3C8"/>
                </a:solidFill>
                <a:latin typeface="Calibri" pitchFamily="34" charset="0"/>
                <a:ea typeface="Calibri" pitchFamily="34" charset="-122"/>
                <a:cs typeface="Calibri" pitchFamily="34" charset="-120"/>
              </a:rPr>
              <a:t>How those fields move through spacetime.</a:t>
            </a:r>
            <a:endParaRPr lang="en-US" sz="1400" dirty="0"/>
          </a:p>
        </p:txBody>
      </p:sp>
      <p:sp>
        <p:nvSpPr>
          <p:cNvPr id="16" name="Shape 14"/>
          <p:cNvSpPr/>
          <p:nvPr/>
        </p:nvSpPr>
        <p:spPr>
          <a:xfrm>
            <a:off x="640080" y="3209544"/>
            <a:ext cx="10908792" cy="621792"/>
          </a:xfrm>
          <a:prstGeom prst="roundRect">
            <a:avLst>
              <a:gd name="adj" fmla="val 11765"/>
            </a:avLst>
          </a:prstGeom>
          <a:solidFill>
            <a:srgbClr val="1A2450"/>
          </a:solidFill>
          <a:ln w="12700">
            <a:solidFill>
              <a:srgbClr val="212C5C"/>
            </a:solidFill>
            <a:prstDash val="solid"/>
          </a:ln>
        </p:spPr>
      </p:sp>
      <p:sp>
        <p:nvSpPr>
          <p:cNvPr id="17" name="Shape 15"/>
          <p:cNvSpPr/>
          <p:nvPr/>
        </p:nvSpPr>
        <p:spPr>
          <a:xfrm>
            <a:off x="868680" y="3337560"/>
            <a:ext cx="365760" cy="365760"/>
          </a:xfrm>
          <a:prstGeom prst="ellipse">
            <a:avLst/>
          </a:prstGeom>
          <a:solidFill>
            <a:srgbClr val="F2B134"/>
          </a:solidFill>
          <a:ln w="12700">
            <a:solidFill>
              <a:srgbClr val="F2B134"/>
            </a:solidFill>
            <a:prstDash val="solid"/>
          </a:ln>
        </p:spPr>
      </p:sp>
      <p:sp>
        <p:nvSpPr>
          <p:cNvPr id="18" name="Text 16"/>
          <p:cNvSpPr txBox="1"/>
          <p:nvPr/>
        </p:nvSpPr>
        <p:spPr>
          <a:xfrm>
            <a:off x="868680" y="3337560"/>
            <a:ext cx="365760" cy="365760"/>
          </a:xfrm>
          <a:prstGeom prst="rect">
            <a:avLst/>
          </a:prstGeom>
          <a:noFill/>
          <a:ln/>
        </p:spPr>
        <p:txBody>
          <a:bodyPr wrap="square" lIns="0" tIns="0" rIns="0" bIns="0" rtlCol="0" anchor="ctr"/>
          <a:lstStyle/>
          <a:p>
            <a:pPr algn="ctr" indent="0" marL="0">
              <a:buNone/>
            </a:pPr>
            <a:r>
              <a:rPr lang="en-US" sz="1300" b="1" dirty="0">
                <a:solidFill>
                  <a:srgbClr val="0E1631"/>
                </a:solidFill>
                <a:latin typeface="Cambria" pitchFamily="34" charset="0"/>
                <a:ea typeface="Cambria" pitchFamily="34" charset="-122"/>
                <a:cs typeface="Cambria" pitchFamily="34" charset="-120"/>
              </a:rPr>
              <a:t>3</a:t>
            </a:r>
            <a:endParaRPr lang="en-US" sz="1300" dirty="0"/>
          </a:p>
        </p:txBody>
      </p:sp>
      <p:sp>
        <p:nvSpPr>
          <p:cNvPr id="19" name="Text 17"/>
          <p:cNvSpPr txBox="1"/>
          <p:nvPr/>
        </p:nvSpPr>
        <p:spPr>
          <a:xfrm>
            <a:off x="1371600" y="3209544"/>
            <a:ext cx="1234440" cy="621792"/>
          </a:xfrm>
          <a:prstGeom prst="rect">
            <a:avLst/>
          </a:prstGeom>
          <a:noFill/>
          <a:ln/>
        </p:spPr>
        <p:txBody>
          <a:bodyPr wrap="square" lIns="0" tIns="0" rIns="0" bIns="0" rtlCol="0" anchor="ctr"/>
          <a:lstStyle/>
          <a:p>
            <a:pPr indent="0" marL="0">
              <a:buNone/>
            </a:pPr>
            <a:r>
              <a:rPr lang="en-US" sz="2100" b="1" dirty="0">
                <a:solidFill>
                  <a:srgbClr val="F2B134"/>
                </a:solidFill>
                <a:latin typeface="Cambria" pitchFamily="34" charset="0"/>
                <a:ea typeface="Cambria" pitchFamily="34" charset="-122"/>
                <a:cs typeface="Cambria" pitchFamily="34" charset="-120"/>
              </a:rPr>
              <a:t>Dμ</a:t>
            </a:r>
            <a:endParaRPr lang="en-US" sz="2100" dirty="0"/>
          </a:p>
        </p:txBody>
      </p:sp>
      <p:sp>
        <p:nvSpPr>
          <p:cNvPr id="20" name="Text 18"/>
          <p:cNvSpPr txBox="1"/>
          <p:nvPr/>
        </p:nvSpPr>
        <p:spPr>
          <a:xfrm>
            <a:off x="2651760" y="3209544"/>
            <a:ext cx="3200400" cy="621792"/>
          </a:xfrm>
          <a:prstGeom prst="rect">
            <a:avLst/>
          </a:prstGeom>
          <a:noFill/>
          <a:ln/>
        </p:spPr>
        <p:txBody>
          <a:bodyPr wrap="square" lIns="0" tIns="0" rIns="0" bIns="0" rtlCol="0" anchor="ctr"/>
          <a:lstStyle/>
          <a:p>
            <a:pPr indent="0" marL="0">
              <a:buNone/>
            </a:pPr>
            <a:r>
              <a:rPr lang="en-US" sz="1500" b="1" dirty="0">
                <a:solidFill>
                  <a:srgbClr val="DCE3F5"/>
                </a:solidFill>
                <a:latin typeface="Calibri" pitchFamily="34" charset="0"/>
                <a:ea typeface="Calibri" pitchFamily="34" charset="-122"/>
                <a:cs typeface="Calibri" pitchFamily="34" charset="-120"/>
              </a:rPr>
              <a:t>The covariant derivative</a:t>
            </a:r>
            <a:endParaRPr lang="en-US" sz="1500" dirty="0"/>
          </a:p>
        </p:txBody>
      </p:sp>
      <p:sp>
        <p:nvSpPr>
          <p:cNvPr id="21" name="Text 19"/>
          <p:cNvSpPr txBox="1"/>
          <p:nvPr/>
        </p:nvSpPr>
        <p:spPr>
          <a:xfrm>
            <a:off x="5943600" y="3209544"/>
            <a:ext cx="5394960" cy="621792"/>
          </a:xfrm>
          <a:prstGeom prst="rect">
            <a:avLst/>
          </a:prstGeom>
          <a:noFill/>
          <a:ln/>
        </p:spPr>
        <p:txBody>
          <a:bodyPr wrap="square" lIns="0" tIns="0" rIns="0" bIns="0" rtlCol="0" anchor="ctr"/>
          <a:lstStyle/>
          <a:p>
            <a:pPr indent="0" marL="0">
              <a:buNone/>
            </a:pPr>
            <a:r>
              <a:rPr lang="en-US" sz="1400" dirty="0">
                <a:solidFill>
                  <a:srgbClr val="94A3C8"/>
                </a:solidFill>
                <a:latin typeface="Calibri" pitchFamily="34" charset="0"/>
                <a:ea typeface="Calibri" pitchFamily="34" charset="-122"/>
                <a:cs typeface="Calibri" pitchFamily="34" charset="-120"/>
              </a:rPr>
              <a:t>Symmetry imposed — which forces in new fields.</a:t>
            </a:r>
            <a:endParaRPr lang="en-US" sz="1400" dirty="0"/>
          </a:p>
        </p:txBody>
      </p:sp>
      <p:sp>
        <p:nvSpPr>
          <p:cNvPr id="22" name="Shape 20"/>
          <p:cNvSpPr/>
          <p:nvPr/>
        </p:nvSpPr>
        <p:spPr>
          <a:xfrm>
            <a:off x="640080" y="3968496"/>
            <a:ext cx="10908792" cy="621792"/>
          </a:xfrm>
          <a:prstGeom prst="roundRect">
            <a:avLst>
              <a:gd name="adj" fmla="val 11765"/>
            </a:avLst>
          </a:prstGeom>
          <a:solidFill>
            <a:srgbClr val="212C5C"/>
          </a:solidFill>
          <a:ln w="12700">
            <a:solidFill>
              <a:srgbClr val="212C5C"/>
            </a:solidFill>
            <a:prstDash val="solid"/>
          </a:ln>
        </p:spPr>
      </p:sp>
      <p:sp>
        <p:nvSpPr>
          <p:cNvPr id="23" name="Shape 21"/>
          <p:cNvSpPr/>
          <p:nvPr/>
        </p:nvSpPr>
        <p:spPr>
          <a:xfrm>
            <a:off x="868680" y="4096512"/>
            <a:ext cx="365760" cy="365760"/>
          </a:xfrm>
          <a:prstGeom prst="ellipse">
            <a:avLst/>
          </a:prstGeom>
          <a:solidFill>
            <a:srgbClr val="F2B134"/>
          </a:solidFill>
          <a:ln w="12700">
            <a:solidFill>
              <a:srgbClr val="F2B134"/>
            </a:solidFill>
            <a:prstDash val="solid"/>
          </a:ln>
        </p:spPr>
      </p:sp>
      <p:sp>
        <p:nvSpPr>
          <p:cNvPr id="24" name="Text 22"/>
          <p:cNvSpPr txBox="1"/>
          <p:nvPr/>
        </p:nvSpPr>
        <p:spPr>
          <a:xfrm>
            <a:off x="868680" y="4096512"/>
            <a:ext cx="365760" cy="365760"/>
          </a:xfrm>
          <a:prstGeom prst="rect">
            <a:avLst/>
          </a:prstGeom>
          <a:noFill/>
          <a:ln/>
        </p:spPr>
        <p:txBody>
          <a:bodyPr wrap="square" lIns="0" tIns="0" rIns="0" bIns="0" rtlCol="0" anchor="ctr"/>
          <a:lstStyle/>
          <a:p>
            <a:pPr algn="ctr" indent="0" marL="0">
              <a:buNone/>
            </a:pPr>
            <a:r>
              <a:rPr lang="en-US" sz="1300" b="1" dirty="0">
                <a:solidFill>
                  <a:srgbClr val="0E1631"/>
                </a:solidFill>
                <a:latin typeface="Cambria" pitchFamily="34" charset="0"/>
                <a:ea typeface="Cambria" pitchFamily="34" charset="-122"/>
                <a:cs typeface="Cambria" pitchFamily="34" charset="-120"/>
              </a:rPr>
              <a:t>4</a:t>
            </a:r>
            <a:endParaRPr lang="en-US" sz="1300" dirty="0"/>
          </a:p>
        </p:txBody>
      </p:sp>
      <p:sp>
        <p:nvSpPr>
          <p:cNvPr id="25" name="Text 23"/>
          <p:cNvSpPr txBox="1"/>
          <p:nvPr/>
        </p:nvSpPr>
        <p:spPr>
          <a:xfrm>
            <a:off x="1371600" y="3968496"/>
            <a:ext cx="1234440" cy="621792"/>
          </a:xfrm>
          <a:prstGeom prst="rect">
            <a:avLst/>
          </a:prstGeom>
          <a:noFill/>
          <a:ln/>
        </p:spPr>
        <p:txBody>
          <a:bodyPr wrap="square" lIns="0" tIns="0" rIns="0" bIns="0" rtlCol="0" anchor="ctr"/>
          <a:lstStyle/>
          <a:p>
            <a:pPr indent="0" marL="0">
              <a:buNone/>
            </a:pPr>
            <a:r>
              <a:rPr lang="en-US" sz="2100" b="1" dirty="0">
                <a:solidFill>
                  <a:srgbClr val="F2B134"/>
                </a:solidFill>
                <a:latin typeface="Cambria" pitchFamily="34" charset="0"/>
                <a:ea typeface="Cambria" pitchFamily="34" charset="-122"/>
                <a:cs typeface="Cambria" pitchFamily="34" charset="-120"/>
              </a:rPr>
              <a:t>Fμν</a:t>
            </a:r>
            <a:endParaRPr lang="en-US" sz="2100" dirty="0"/>
          </a:p>
        </p:txBody>
      </p:sp>
      <p:sp>
        <p:nvSpPr>
          <p:cNvPr id="26" name="Text 24"/>
          <p:cNvSpPr txBox="1"/>
          <p:nvPr/>
        </p:nvSpPr>
        <p:spPr>
          <a:xfrm>
            <a:off x="2651760" y="3968496"/>
            <a:ext cx="3200400" cy="621792"/>
          </a:xfrm>
          <a:prstGeom prst="rect">
            <a:avLst/>
          </a:prstGeom>
          <a:noFill/>
          <a:ln/>
        </p:spPr>
        <p:txBody>
          <a:bodyPr wrap="square" lIns="0" tIns="0" rIns="0" bIns="0" rtlCol="0" anchor="ctr"/>
          <a:lstStyle/>
          <a:p>
            <a:pPr indent="0" marL="0">
              <a:buNone/>
            </a:pPr>
            <a:r>
              <a:rPr lang="en-US" sz="1500" b="1" dirty="0">
                <a:solidFill>
                  <a:srgbClr val="DCE3F5"/>
                </a:solidFill>
                <a:latin typeface="Calibri" pitchFamily="34" charset="0"/>
                <a:ea typeface="Calibri" pitchFamily="34" charset="-122"/>
                <a:cs typeface="Calibri" pitchFamily="34" charset="-120"/>
              </a:rPr>
              <a:t>The kinetic terms</a:t>
            </a:r>
            <a:endParaRPr lang="en-US" sz="1500" dirty="0"/>
          </a:p>
        </p:txBody>
      </p:sp>
      <p:sp>
        <p:nvSpPr>
          <p:cNvPr id="27" name="Text 25"/>
          <p:cNvSpPr txBox="1"/>
          <p:nvPr/>
        </p:nvSpPr>
        <p:spPr>
          <a:xfrm>
            <a:off x="5943600" y="3968496"/>
            <a:ext cx="5394960" cy="621792"/>
          </a:xfrm>
          <a:prstGeom prst="rect">
            <a:avLst/>
          </a:prstGeom>
          <a:noFill/>
          <a:ln/>
        </p:spPr>
        <p:txBody>
          <a:bodyPr wrap="square" lIns="0" tIns="0" rIns="0" bIns="0" rtlCol="0" anchor="ctr"/>
          <a:lstStyle/>
          <a:p>
            <a:pPr indent="0" marL="0">
              <a:buNone/>
            </a:pPr>
            <a:r>
              <a:rPr lang="en-US" sz="1400" dirty="0">
                <a:solidFill>
                  <a:srgbClr val="94A3C8"/>
                </a:solidFill>
                <a:latin typeface="Calibri" pitchFamily="34" charset="0"/>
                <a:ea typeface="Calibri" pitchFamily="34" charset="-122"/>
                <a:cs typeface="Calibri" pitchFamily="34" charset="-120"/>
              </a:rPr>
              <a:t>Those new fields get a life of their own: the forces.</a:t>
            </a:r>
            <a:endParaRPr lang="en-US" sz="1400" dirty="0"/>
          </a:p>
        </p:txBody>
      </p:sp>
      <p:sp>
        <p:nvSpPr>
          <p:cNvPr id="28" name="Shape 26"/>
          <p:cNvSpPr/>
          <p:nvPr/>
        </p:nvSpPr>
        <p:spPr>
          <a:xfrm>
            <a:off x="640080" y="4727448"/>
            <a:ext cx="10908792" cy="621792"/>
          </a:xfrm>
          <a:prstGeom prst="roundRect">
            <a:avLst>
              <a:gd name="adj" fmla="val 11765"/>
            </a:avLst>
          </a:prstGeom>
          <a:solidFill>
            <a:srgbClr val="1A2450"/>
          </a:solidFill>
          <a:ln w="12700">
            <a:solidFill>
              <a:srgbClr val="212C5C"/>
            </a:solidFill>
            <a:prstDash val="solid"/>
          </a:ln>
        </p:spPr>
      </p:sp>
      <p:sp>
        <p:nvSpPr>
          <p:cNvPr id="29" name="Shape 27"/>
          <p:cNvSpPr/>
          <p:nvPr/>
        </p:nvSpPr>
        <p:spPr>
          <a:xfrm>
            <a:off x="868680" y="4855464"/>
            <a:ext cx="365760" cy="365760"/>
          </a:xfrm>
          <a:prstGeom prst="ellipse">
            <a:avLst/>
          </a:prstGeom>
          <a:solidFill>
            <a:srgbClr val="F2B134"/>
          </a:solidFill>
          <a:ln w="12700">
            <a:solidFill>
              <a:srgbClr val="F2B134"/>
            </a:solidFill>
            <a:prstDash val="solid"/>
          </a:ln>
        </p:spPr>
      </p:sp>
      <p:sp>
        <p:nvSpPr>
          <p:cNvPr id="30" name="Text 28"/>
          <p:cNvSpPr txBox="1"/>
          <p:nvPr/>
        </p:nvSpPr>
        <p:spPr>
          <a:xfrm>
            <a:off x="868680" y="4855464"/>
            <a:ext cx="365760" cy="365760"/>
          </a:xfrm>
          <a:prstGeom prst="rect">
            <a:avLst/>
          </a:prstGeom>
          <a:noFill/>
          <a:ln/>
        </p:spPr>
        <p:txBody>
          <a:bodyPr wrap="square" lIns="0" tIns="0" rIns="0" bIns="0" rtlCol="0" anchor="ctr"/>
          <a:lstStyle/>
          <a:p>
            <a:pPr algn="ctr" indent="0" marL="0">
              <a:buNone/>
            </a:pPr>
            <a:r>
              <a:rPr lang="en-US" sz="1300" b="1" dirty="0">
                <a:solidFill>
                  <a:srgbClr val="0E1631"/>
                </a:solidFill>
                <a:latin typeface="Cambria" pitchFamily="34" charset="0"/>
                <a:ea typeface="Cambria" pitchFamily="34" charset="-122"/>
                <a:cs typeface="Cambria" pitchFamily="34" charset="-120"/>
              </a:rPr>
              <a:t>5</a:t>
            </a:r>
            <a:endParaRPr lang="en-US" sz="1300" dirty="0"/>
          </a:p>
        </p:txBody>
      </p:sp>
      <p:sp>
        <p:nvSpPr>
          <p:cNvPr id="31" name="Text 29"/>
          <p:cNvSpPr txBox="1"/>
          <p:nvPr/>
        </p:nvSpPr>
        <p:spPr>
          <a:xfrm>
            <a:off x="1371600" y="4727448"/>
            <a:ext cx="1234440" cy="621792"/>
          </a:xfrm>
          <a:prstGeom prst="rect">
            <a:avLst/>
          </a:prstGeom>
          <a:noFill/>
          <a:ln/>
        </p:spPr>
        <p:txBody>
          <a:bodyPr wrap="square" lIns="0" tIns="0" rIns="0" bIns="0" rtlCol="0" anchor="ctr"/>
          <a:lstStyle/>
          <a:p>
            <a:pPr indent="0" marL="0">
              <a:buNone/>
            </a:pPr>
            <a:r>
              <a:rPr lang="en-US" sz="2100" b="1" dirty="0">
                <a:solidFill>
                  <a:srgbClr val="F2B134"/>
                </a:solidFill>
                <a:latin typeface="Cambria" pitchFamily="34" charset="0"/>
                <a:ea typeface="Cambria" pitchFamily="34" charset="-122"/>
                <a:cs typeface="Cambria" pitchFamily="34" charset="-120"/>
              </a:rPr>
              <a:t>φ, V(φ)</a:t>
            </a:r>
            <a:endParaRPr lang="en-US" sz="2100" dirty="0"/>
          </a:p>
        </p:txBody>
      </p:sp>
      <p:sp>
        <p:nvSpPr>
          <p:cNvPr id="32" name="Text 30"/>
          <p:cNvSpPr txBox="1"/>
          <p:nvPr/>
        </p:nvSpPr>
        <p:spPr>
          <a:xfrm>
            <a:off x="2651760" y="4727448"/>
            <a:ext cx="3200400" cy="621792"/>
          </a:xfrm>
          <a:prstGeom prst="rect">
            <a:avLst/>
          </a:prstGeom>
          <a:noFill/>
          <a:ln/>
        </p:spPr>
        <p:txBody>
          <a:bodyPr wrap="square" lIns="0" tIns="0" rIns="0" bIns="0" rtlCol="0" anchor="ctr"/>
          <a:lstStyle/>
          <a:p>
            <a:pPr indent="0" marL="0">
              <a:buNone/>
            </a:pPr>
            <a:r>
              <a:rPr lang="en-US" sz="1500" b="1" dirty="0">
                <a:solidFill>
                  <a:srgbClr val="DCE3F5"/>
                </a:solidFill>
                <a:latin typeface="Calibri" pitchFamily="34" charset="0"/>
                <a:ea typeface="Calibri" pitchFamily="34" charset="-122"/>
                <a:cs typeface="Calibri" pitchFamily="34" charset="-120"/>
              </a:rPr>
              <a:t>The Higgs and its potential</a:t>
            </a:r>
            <a:endParaRPr lang="en-US" sz="1500" dirty="0"/>
          </a:p>
        </p:txBody>
      </p:sp>
      <p:sp>
        <p:nvSpPr>
          <p:cNvPr id="33" name="Text 31"/>
          <p:cNvSpPr txBox="1"/>
          <p:nvPr/>
        </p:nvSpPr>
        <p:spPr>
          <a:xfrm>
            <a:off x="5943600" y="4727448"/>
            <a:ext cx="5394960" cy="621792"/>
          </a:xfrm>
          <a:prstGeom prst="rect">
            <a:avLst/>
          </a:prstGeom>
          <a:noFill/>
          <a:ln/>
        </p:spPr>
        <p:txBody>
          <a:bodyPr wrap="square" lIns="0" tIns="0" rIns="0" bIns="0" rtlCol="0" anchor="ctr"/>
          <a:lstStyle/>
          <a:p>
            <a:pPr indent="0" marL="0">
              <a:buNone/>
            </a:pPr>
            <a:r>
              <a:rPr lang="en-US" sz="1400" dirty="0">
                <a:solidFill>
                  <a:srgbClr val="94A3C8"/>
                </a:solidFill>
                <a:latin typeface="Calibri" pitchFamily="34" charset="0"/>
                <a:ea typeface="Calibri" pitchFamily="34" charset="-122"/>
                <a:cs typeface="Calibri" pitchFamily="34" charset="-120"/>
              </a:rPr>
              <a:t>Mass, and the mixing between generations.</a:t>
            </a:r>
            <a:endParaRPr lang="en-US" sz="1400" dirty="0"/>
          </a:p>
        </p:txBody>
      </p:sp>
      <p:sp>
        <p:nvSpPr>
          <p:cNvPr id="34" name="Text 32"/>
          <p:cNvSpPr txBox="1"/>
          <p:nvPr/>
        </p:nvSpPr>
        <p:spPr>
          <a:xfrm>
            <a:off x="640080" y="5577840"/>
            <a:ext cx="10908792" cy="365760"/>
          </a:xfrm>
          <a:prstGeom prst="rect">
            <a:avLst/>
          </a:prstGeom>
          <a:noFill/>
          <a:ln/>
        </p:spPr>
        <p:txBody>
          <a:bodyPr wrap="square" lIns="0" tIns="0" rIns="0" bIns="0" rtlCol="0" anchor="ctr"/>
          <a:lstStyle/>
          <a:p>
            <a:pPr indent="0" marL="0">
              <a:buNone/>
            </a:pPr>
            <a:r>
              <a:rPr lang="en-US" sz="1400" i="1" dirty="0">
                <a:solidFill>
                  <a:srgbClr val="5BD1C4"/>
                </a:solidFill>
                <a:latin typeface="Calibri" pitchFamily="34" charset="0"/>
                <a:ea typeface="Calibri" pitchFamily="34" charset="-122"/>
                <a:cs typeface="Calibri" pitchFamily="34" charset="-120"/>
              </a:rPr>
              <a:t>Symmetry fixes the form of every term. The numbers inside them are not on the shirt.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631"/>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300" b="1" spc="200" kern="0" dirty="0">
                <a:solidFill>
                  <a:srgbClr val="F2B134"/>
                </a:solidFill>
                <a:latin typeface="Calibri" pitchFamily="34" charset="0"/>
                <a:ea typeface="Calibri" pitchFamily="34" charset="-122"/>
                <a:cs typeface="Calibri" pitchFamily="34" charset="-120"/>
              </a:rPr>
              <a:t>MONTE CARLO</a:t>
            </a:r>
            <a:endParaRPr lang="en-US" sz="13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600" b="1" dirty="0">
                <a:solidFill>
                  <a:srgbClr val="DCE3F5"/>
                </a:solidFill>
                <a:latin typeface="Cambria" pitchFamily="34" charset="0"/>
                <a:ea typeface="Cambria" pitchFamily="34" charset="-122"/>
                <a:cs typeface="Cambria" pitchFamily="34" charset="-120"/>
              </a:rPr>
              <a:t>From the Lagrangian to your generator</a:t>
            </a:r>
            <a:endParaRPr lang="en-US" sz="3600" dirty="0"/>
          </a:p>
        </p:txBody>
      </p:sp>
      <p:sp>
        <p:nvSpPr>
          <p:cNvPr id="4" name="Text 2"/>
          <p:cNvSpPr txBox="1"/>
          <p:nvPr/>
        </p:nvSpPr>
        <p:spPr>
          <a:xfrm>
            <a:off x="640080" y="1691640"/>
            <a:ext cx="10881360" cy="457200"/>
          </a:xfrm>
          <a:prstGeom prst="rect">
            <a:avLst/>
          </a:prstGeom>
          <a:noFill/>
          <a:ln/>
        </p:spPr>
        <p:txBody>
          <a:bodyPr wrap="square" lIns="0" tIns="0" rIns="0" bIns="0" rtlCol="0" anchor="ctr"/>
          <a:lstStyle/>
          <a:p>
            <a:pPr indent="0" marL="0">
              <a:buNone/>
            </a:pPr>
            <a:r>
              <a:rPr lang="en-US" sz="1500" dirty="0">
                <a:solidFill>
                  <a:srgbClr val="DCE3F5"/>
                </a:solidFill>
                <a:latin typeface="Calibri" pitchFamily="34" charset="0"/>
                <a:ea typeface="Calibri" pitchFamily="34" charset="-122"/>
                <a:cs typeface="Calibri" pitchFamily="34" charset="-120"/>
              </a:rPr>
              <a:t>Generate thousands of Higgs decays at random, each following the theory's rules, and histogram the photons.</a:t>
            </a:r>
            <a:endParaRPr lang="en-US" sz="1500" dirty="0"/>
          </a:p>
        </p:txBody>
      </p:sp>
      <p:sp>
        <p:nvSpPr>
          <p:cNvPr id="5" name="Shape 3"/>
          <p:cNvSpPr/>
          <p:nvPr/>
        </p:nvSpPr>
        <p:spPr>
          <a:xfrm>
            <a:off x="640080" y="2423160"/>
            <a:ext cx="2542032" cy="2331720"/>
          </a:xfrm>
          <a:prstGeom prst="roundRect">
            <a:avLst>
              <a:gd name="adj" fmla="val 3922"/>
            </a:avLst>
          </a:prstGeom>
          <a:solidFill>
            <a:srgbClr val="1A2450"/>
          </a:solidFill>
          <a:ln w="12700">
            <a:solidFill>
              <a:srgbClr val="212C5C"/>
            </a:solidFill>
            <a:prstDash val="solid"/>
          </a:ln>
        </p:spPr>
      </p:sp>
      <p:sp>
        <p:nvSpPr>
          <p:cNvPr id="6" name="Shape 4"/>
          <p:cNvSpPr/>
          <p:nvPr/>
        </p:nvSpPr>
        <p:spPr>
          <a:xfrm>
            <a:off x="896112" y="2697480"/>
            <a:ext cx="457200" cy="457200"/>
          </a:xfrm>
          <a:prstGeom prst="ellipse">
            <a:avLst/>
          </a:prstGeom>
          <a:solidFill>
            <a:srgbClr val="F2B134"/>
          </a:solidFill>
          <a:ln w="12700">
            <a:solidFill>
              <a:srgbClr val="F2B134"/>
            </a:solidFill>
            <a:prstDash val="solid"/>
          </a:ln>
        </p:spPr>
      </p:sp>
      <p:sp>
        <p:nvSpPr>
          <p:cNvPr id="7" name="Text 5"/>
          <p:cNvSpPr txBox="1"/>
          <p:nvPr/>
        </p:nvSpPr>
        <p:spPr>
          <a:xfrm>
            <a:off x="896112" y="2697480"/>
            <a:ext cx="457200" cy="457200"/>
          </a:xfrm>
          <a:prstGeom prst="rect">
            <a:avLst/>
          </a:prstGeom>
          <a:noFill/>
          <a:ln/>
        </p:spPr>
        <p:txBody>
          <a:bodyPr wrap="square" lIns="0" tIns="0" rIns="0" bIns="0" rtlCol="0" anchor="ctr"/>
          <a:lstStyle/>
          <a:p>
            <a:pPr algn="ctr" indent="0" marL="0">
              <a:buNone/>
            </a:pPr>
            <a:r>
              <a:rPr lang="en-US" sz="1600" b="1" dirty="0">
                <a:solidFill>
                  <a:srgbClr val="0E1631"/>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896112" y="3310128"/>
            <a:ext cx="2057400" cy="365760"/>
          </a:xfrm>
          <a:prstGeom prst="rect">
            <a:avLst/>
          </a:prstGeom>
          <a:noFill/>
          <a:ln/>
        </p:spPr>
        <p:txBody>
          <a:bodyPr wrap="square" lIns="0" tIns="0" rIns="0" bIns="0" rtlCol="0" anchor="ctr"/>
          <a:lstStyle/>
          <a:p>
            <a:pPr indent="0" marL="0">
              <a:buNone/>
            </a:pPr>
            <a:r>
              <a:rPr lang="en-US" sz="2000" b="1" dirty="0">
                <a:solidFill>
                  <a:srgbClr val="F2B134"/>
                </a:solidFill>
                <a:latin typeface="Cambria" pitchFamily="34" charset="0"/>
                <a:ea typeface="Cambria" pitchFamily="34" charset="-122"/>
                <a:cs typeface="Cambria" pitchFamily="34" charset="-120"/>
              </a:rPr>
              <a:t>Draw</a:t>
            </a:r>
            <a:endParaRPr lang="en-US" sz="2000" dirty="0"/>
          </a:p>
        </p:txBody>
      </p:sp>
      <p:sp>
        <p:nvSpPr>
          <p:cNvPr id="9" name="Text 7"/>
          <p:cNvSpPr txBox="1"/>
          <p:nvPr/>
        </p:nvSpPr>
        <p:spPr>
          <a:xfrm>
            <a:off x="896112" y="3703320"/>
            <a:ext cx="2057400" cy="914400"/>
          </a:xfrm>
          <a:prstGeom prst="rect">
            <a:avLst/>
          </a:prstGeom>
          <a:noFill/>
          <a:ln/>
        </p:spPr>
        <p:txBody>
          <a:bodyPr wrap="square" lIns="0" tIns="0" rIns="0" bIns="0" rtlCol="0" anchor="ctr"/>
          <a:lstStyle/>
          <a:p>
            <a:pPr indent="0" marL="0">
              <a:lnSpc>
                <a:spcPct val="110000"/>
              </a:lnSpc>
              <a:buNone/>
            </a:pPr>
            <a:r>
              <a:rPr lang="en-US" sz="1300" dirty="0">
                <a:solidFill>
                  <a:srgbClr val="DCE3F5"/>
                </a:solidFill>
                <a:latin typeface="Calibri" pitchFamily="34" charset="0"/>
                <a:ea typeface="Calibri" pitchFamily="34" charset="-122"/>
                <a:cs typeface="Calibri" pitchFamily="34" charset="-120"/>
              </a:rPr>
              <a:t>Draw each Higgs' speed from a distribution. Your lab's accept–reject can do any distribution.</a:t>
            </a:r>
            <a:endParaRPr lang="en-US" sz="1300" dirty="0"/>
          </a:p>
        </p:txBody>
      </p:sp>
      <p:sp>
        <p:nvSpPr>
          <p:cNvPr id="10" name="Text 8"/>
          <p:cNvSpPr txBox="1"/>
          <p:nvPr/>
        </p:nvSpPr>
        <p:spPr>
          <a:xfrm>
            <a:off x="3218688" y="3291840"/>
            <a:ext cx="219456" cy="457200"/>
          </a:xfrm>
          <a:prstGeom prst="rect">
            <a:avLst/>
          </a:prstGeom>
          <a:noFill/>
          <a:ln/>
        </p:spPr>
        <p:txBody>
          <a:bodyPr wrap="square" lIns="0" tIns="0" rIns="0" bIns="0" rtlCol="0" anchor="ctr"/>
          <a:lstStyle/>
          <a:p>
            <a:pPr algn="ctr" indent="0" marL="0">
              <a:buNone/>
            </a:pPr>
            <a:r>
              <a:rPr lang="en-US" sz="2400" b="1" dirty="0">
                <a:solidFill>
                  <a:srgbClr val="94A3C8"/>
                </a:solidFill>
                <a:latin typeface="Calibri" pitchFamily="34" charset="0"/>
                <a:ea typeface="Calibri" pitchFamily="34" charset="-122"/>
                <a:cs typeface="Calibri" pitchFamily="34" charset="-120"/>
              </a:rPr>
              <a:t>›</a:t>
            </a:r>
            <a:endParaRPr lang="en-US" sz="2400" dirty="0"/>
          </a:p>
        </p:txBody>
      </p:sp>
      <p:sp>
        <p:nvSpPr>
          <p:cNvPr id="11" name="Shape 9"/>
          <p:cNvSpPr/>
          <p:nvPr/>
        </p:nvSpPr>
        <p:spPr>
          <a:xfrm>
            <a:off x="3438144" y="2423160"/>
            <a:ext cx="2542032" cy="2331720"/>
          </a:xfrm>
          <a:prstGeom prst="roundRect">
            <a:avLst>
              <a:gd name="adj" fmla="val 3922"/>
            </a:avLst>
          </a:prstGeom>
          <a:solidFill>
            <a:srgbClr val="1A2450"/>
          </a:solidFill>
          <a:ln w="12700">
            <a:solidFill>
              <a:srgbClr val="212C5C"/>
            </a:solidFill>
            <a:prstDash val="solid"/>
          </a:ln>
        </p:spPr>
      </p:sp>
      <p:sp>
        <p:nvSpPr>
          <p:cNvPr id="12" name="Shape 10"/>
          <p:cNvSpPr/>
          <p:nvPr/>
        </p:nvSpPr>
        <p:spPr>
          <a:xfrm>
            <a:off x="3694176" y="2697480"/>
            <a:ext cx="457200" cy="457200"/>
          </a:xfrm>
          <a:prstGeom prst="ellipse">
            <a:avLst/>
          </a:prstGeom>
          <a:solidFill>
            <a:srgbClr val="F2B134"/>
          </a:solidFill>
          <a:ln w="12700">
            <a:solidFill>
              <a:srgbClr val="F2B134"/>
            </a:solidFill>
            <a:prstDash val="solid"/>
          </a:ln>
        </p:spPr>
      </p:sp>
      <p:sp>
        <p:nvSpPr>
          <p:cNvPr id="13" name="Text 11"/>
          <p:cNvSpPr txBox="1"/>
          <p:nvPr/>
        </p:nvSpPr>
        <p:spPr>
          <a:xfrm>
            <a:off x="3694176" y="2697480"/>
            <a:ext cx="457200" cy="457200"/>
          </a:xfrm>
          <a:prstGeom prst="rect">
            <a:avLst/>
          </a:prstGeom>
          <a:noFill/>
          <a:ln/>
        </p:spPr>
        <p:txBody>
          <a:bodyPr wrap="square" lIns="0" tIns="0" rIns="0" bIns="0" rtlCol="0" anchor="ctr"/>
          <a:lstStyle/>
          <a:p>
            <a:pPr algn="ctr" indent="0" marL="0">
              <a:buNone/>
            </a:pPr>
            <a:r>
              <a:rPr lang="en-US" sz="1600" b="1" dirty="0">
                <a:solidFill>
                  <a:srgbClr val="0E1631"/>
                </a:solidFill>
                <a:latin typeface="Cambria" pitchFamily="34" charset="0"/>
                <a:ea typeface="Cambria" pitchFamily="34" charset="-122"/>
                <a:cs typeface="Cambria" pitchFamily="34" charset="-120"/>
              </a:rPr>
              <a:t>2</a:t>
            </a:r>
            <a:endParaRPr lang="en-US" sz="1600" dirty="0"/>
          </a:p>
        </p:txBody>
      </p:sp>
      <p:sp>
        <p:nvSpPr>
          <p:cNvPr id="14" name="Text 12"/>
          <p:cNvSpPr txBox="1"/>
          <p:nvPr/>
        </p:nvSpPr>
        <p:spPr>
          <a:xfrm>
            <a:off x="3694176" y="3310128"/>
            <a:ext cx="2057400" cy="365760"/>
          </a:xfrm>
          <a:prstGeom prst="rect">
            <a:avLst/>
          </a:prstGeom>
          <a:noFill/>
          <a:ln/>
        </p:spPr>
        <p:txBody>
          <a:bodyPr wrap="square" lIns="0" tIns="0" rIns="0" bIns="0" rtlCol="0" anchor="ctr"/>
          <a:lstStyle/>
          <a:p>
            <a:pPr indent="0" marL="0">
              <a:buNone/>
            </a:pPr>
            <a:r>
              <a:rPr lang="en-US" sz="2000" b="1" dirty="0">
                <a:solidFill>
                  <a:srgbClr val="F2B134"/>
                </a:solidFill>
                <a:latin typeface="Cambria" pitchFamily="34" charset="0"/>
                <a:ea typeface="Cambria" pitchFamily="34" charset="-122"/>
                <a:cs typeface="Cambria" pitchFamily="34" charset="-120"/>
              </a:rPr>
              <a:t>Decay</a:t>
            </a:r>
            <a:endParaRPr lang="en-US" sz="2000" dirty="0"/>
          </a:p>
        </p:txBody>
      </p:sp>
      <p:sp>
        <p:nvSpPr>
          <p:cNvPr id="15" name="Text 13"/>
          <p:cNvSpPr txBox="1"/>
          <p:nvPr/>
        </p:nvSpPr>
        <p:spPr>
          <a:xfrm>
            <a:off x="3694176" y="3703320"/>
            <a:ext cx="2057400" cy="914400"/>
          </a:xfrm>
          <a:prstGeom prst="rect">
            <a:avLst/>
          </a:prstGeom>
          <a:noFill/>
          <a:ln/>
        </p:spPr>
        <p:txBody>
          <a:bodyPr wrap="square" lIns="0" tIns="0" rIns="0" bIns="0" rtlCol="0" anchor="ctr"/>
          <a:lstStyle/>
          <a:p>
            <a:pPr indent="0" marL="0">
              <a:lnSpc>
                <a:spcPct val="110000"/>
              </a:lnSpc>
              <a:buNone/>
            </a:pPr>
            <a:r>
              <a:rPr lang="en-US" sz="1300" dirty="0">
                <a:solidFill>
                  <a:srgbClr val="DCE3F5"/>
                </a:solidFill>
                <a:latin typeface="Calibri" pitchFamily="34" charset="0"/>
                <a:ea typeface="Calibri" pitchFamily="34" charset="-122"/>
                <a:cs typeface="Calibri" pitchFamily="34" charset="-120"/>
              </a:rPr>
              <a:t>Two-body decay in the rest frame. The kinematics are fixed.</a:t>
            </a:r>
            <a:endParaRPr lang="en-US" sz="1300" dirty="0"/>
          </a:p>
        </p:txBody>
      </p:sp>
      <p:sp>
        <p:nvSpPr>
          <p:cNvPr id="16" name="Text 14"/>
          <p:cNvSpPr txBox="1"/>
          <p:nvPr/>
        </p:nvSpPr>
        <p:spPr>
          <a:xfrm>
            <a:off x="6016752" y="3291840"/>
            <a:ext cx="219456" cy="457200"/>
          </a:xfrm>
          <a:prstGeom prst="rect">
            <a:avLst/>
          </a:prstGeom>
          <a:noFill/>
          <a:ln/>
        </p:spPr>
        <p:txBody>
          <a:bodyPr wrap="square" lIns="0" tIns="0" rIns="0" bIns="0" rtlCol="0" anchor="ctr"/>
          <a:lstStyle/>
          <a:p>
            <a:pPr algn="ctr" indent="0" marL="0">
              <a:buNone/>
            </a:pPr>
            <a:r>
              <a:rPr lang="en-US" sz="2400" b="1" dirty="0">
                <a:solidFill>
                  <a:srgbClr val="94A3C8"/>
                </a:solidFill>
                <a:latin typeface="Calibri" pitchFamily="34" charset="0"/>
                <a:ea typeface="Calibri" pitchFamily="34" charset="-122"/>
                <a:cs typeface="Calibri" pitchFamily="34" charset="-120"/>
              </a:rPr>
              <a:t>›</a:t>
            </a:r>
            <a:endParaRPr lang="en-US" sz="2400" dirty="0"/>
          </a:p>
        </p:txBody>
      </p:sp>
      <p:sp>
        <p:nvSpPr>
          <p:cNvPr id="17" name="Shape 15"/>
          <p:cNvSpPr/>
          <p:nvPr/>
        </p:nvSpPr>
        <p:spPr>
          <a:xfrm>
            <a:off x="6236208" y="2423160"/>
            <a:ext cx="2542032" cy="2331720"/>
          </a:xfrm>
          <a:prstGeom prst="roundRect">
            <a:avLst>
              <a:gd name="adj" fmla="val 3922"/>
            </a:avLst>
          </a:prstGeom>
          <a:solidFill>
            <a:srgbClr val="1A2450"/>
          </a:solidFill>
          <a:ln w="12700">
            <a:solidFill>
              <a:srgbClr val="212C5C"/>
            </a:solidFill>
            <a:prstDash val="solid"/>
          </a:ln>
        </p:spPr>
      </p:sp>
      <p:sp>
        <p:nvSpPr>
          <p:cNvPr id="18" name="Shape 16"/>
          <p:cNvSpPr/>
          <p:nvPr/>
        </p:nvSpPr>
        <p:spPr>
          <a:xfrm>
            <a:off x="6492240" y="2697480"/>
            <a:ext cx="457200" cy="457200"/>
          </a:xfrm>
          <a:prstGeom prst="ellipse">
            <a:avLst/>
          </a:prstGeom>
          <a:solidFill>
            <a:srgbClr val="F2B134"/>
          </a:solidFill>
          <a:ln w="12700">
            <a:solidFill>
              <a:srgbClr val="F2B134"/>
            </a:solidFill>
            <a:prstDash val="solid"/>
          </a:ln>
        </p:spPr>
      </p:sp>
      <p:sp>
        <p:nvSpPr>
          <p:cNvPr id="19" name="Text 17"/>
          <p:cNvSpPr txBox="1"/>
          <p:nvPr/>
        </p:nvSpPr>
        <p:spPr>
          <a:xfrm>
            <a:off x="6492240" y="2697480"/>
            <a:ext cx="457200" cy="457200"/>
          </a:xfrm>
          <a:prstGeom prst="rect">
            <a:avLst/>
          </a:prstGeom>
          <a:noFill/>
          <a:ln/>
        </p:spPr>
        <p:txBody>
          <a:bodyPr wrap="square" lIns="0" tIns="0" rIns="0" bIns="0" rtlCol="0" anchor="ctr"/>
          <a:lstStyle/>
          <a:p>
            <a:pPr algn="ctr" indent="0" marL="0">
              <a:buNone/>
            </a:pPr>
            <a:r>
              <a:rPr lang="en-US" sz="1600" b="1" dirty="0">
                <a:solidFill>
                  <a:srgbClr val="0E1631"/>
                </a:solidFill>
                <a:latin typeface="Cambria" pitchFamily="34" charset="0"/>
                <a:ea typeface="Cambria" pitchFamily="34" charset="-122"/>
                <a:cs typeface="Cambria" pitchFamily="34" charset="-120"/>
              </a:rPr>
              <a:t>3</a:t>
            </a:r>
            <a:endParaRPr lang="en-US" sz="1600" dirty="0"/>
          </a:p>
        </p:txBody>
      </p:sp>
      <p:sp>
        <p:nvSpPr>
          <p:cNvPr id="20" name="Text 18"/>
          <p:cNvSpPr txBox="1"/>
          <p:nvPr/>
        </p:nvSpPr>
        <p:spPr>
          <a:xfrm>
            <a:off x="6492240" y="3310128"/>
            <a:ext cx="2057400" cy="365760"/>
          </a:xfrm>
          <a:prstGeom prst="rect">
            <a:avLst/>
          </a:prstGeom>
          <a:noFill/>
          <a:ln/>
        </p:spPr>
        <p:txBody>
          <a:bodyPr wrap="square" lIns="0" tIns="0" rIns="0" bIns="0" rtlCol="0" anchor="ctr"/>
          <a:lstStyle/>
          <a:p>
            <a:pPr indent="0" marL="0">
              <a:buNone/>
            </a:pPr>
            <a:r>
              <a:rPr lang="en-US" sz="2000" b="1" dirty="0">
                <a:solidFill>
                  <a:srgbClr val="F2B134"/>
                </a:solidFill>
                <a:latin typeface="Cambria" pitchFamily="34" charset="0"/>
                <a:ea typeface="Cambria" pitchFamily="34" charset="-122"/>
                <a:cs typeface="Cambria" pitchFamily="34" charset="-120"/>
              </a:rPr>
              <a:t>Boost</a:t>
            </a:r>
            <a:endParaRPr lang="en-US" sz="2000" dirty="0"/>
          </a:p>
        </p:txBody>
      </p:sp>
      <p:sp>
        <p:nvSpPr>
          <p:cNvPr id="21" name="Text 19"/>
          <p:cNvSpPr txBox="1"/>
          <p:nvPr/>
        </p:nvSpPr>
        <p:spPr>
          <a:xfrm>
            <a:off x="6492240" y="3703320"/>
            <a:ext cx="2057400" cy="914400"/>
          </a:xfrm>
          <a:prstGeom prst="rect">
            <a:avLst/>
          </a:prstGeom>
          <a:noFill/>
          <a:ln/>
        </p:spPr>
        <p:txBody>
          <a:bodyPr wrap="square" lIns="0" tIns="0" rIns="0" bIns="0" rtlCol="0" anchor="ctr"/>
          <a:lstStyle/>
          <a:p>
            <a:pPr indent="0" marL="0">
              <a:lnSpc>
                <a:spcPct val="110000"/>
              </a:lnSpc>
              <a:buNone/>
            </a:pPr>
            <a:r>
              <a:rPr lang="en-US" sz="1300" dirty="0">
                <a:solidFill>
                  <a:srgbClr val="DCE3F5"/>
                </a:solidFill>
                <a:latin typeface="Calibri" pitchFamily="34" charset="0"/>
                <a:ea typeface="Calibri" pitchFamily="34" charset="-122"/>
                <a:cs typeface="Calibri" pitchFamily="34" charset="-120"/>
              </a:rPr>
              <a:t>Lorentz-boost the two photons into the lab frame.</a:t>
            </a:r>
            <a:endParaRPr lang="en-US" sz="1300" dirty="0"/>
          </a:p>
        </p:txBody>
      </p:sp>
      <p:sp>
        <p:nvSpPr>
          <p:cNvPr id="22" name="Text 20"/>
          <p:cNvSpPr txBox="1"/>
          <p:nvPr/>
        </p:nvSpPr>
        <p:spPr>
          <a:xfrm>
            <a:off x="8814816" y="3291840"/>
            <a:ext cx="219456" cy="457200"/>
          </a:xfrm>
          <a:prstGeom prst="rect">
            <a:avLst/>
          </a:prstGeom>
          <a:noFill/>
          <a:ln/>
        </p:spPr>
        <p:txBody>
          <a:bodyPr wrap="square" lIns="0" tIns="0" rIns="0" bIns="0" rtlCol="0" anchor="ctr"/>
          <a:lstStyle/>
          <a:p>
            <a:pPr algn="ctr" indent="0" marL="0">
              <a:buNone/>
            </a:pPr>
            <a:r>
              <a:rPr lang="en-US" sz="2400" b="1" dirty="0">
                <a:solidFill>
                  <a:srgbClr val="94A3C8"/>
                </a:solidFill>
                <a:latin typeface="Calibri" pitchFamily="34" charset="0"/>
                <a:ea typeface="Calibri" pitchFamily="34" charset="-122"/>
                <a:cs typeface="Calibri" pitchFamily="34" charset="-120"/>
              </a:rPr>
              <a:t>›</a:t>
            </a:r>
            <a:endParaRPr lang="en-US" sz="2400" dirty="0"/>
          </a:p>
        </p:txBody>
      </p:sp>
      <p:sp>
        <p:nvSpPr>
          <p:cNvPr id="23" name="Shape 21"/>
          <p:cNvSpPr/>
          <p:nvPr/>
        </p:nvSpPr>
        <p:spPr>
          <a:xfrm>
            <a:off x="9034272" y="2423160"/>
            <a:ext cx="2542032" cy="2331720"/>
          </a:xfrm>
          <a:prstGeom prst="roundRect">
            <a:avLst>
              <a:gd name="adj" fmla="val 3922"/>
            </a:avLst>
          </a:prstGeom>
          <a:solidFill>
            <a:srgbClr val="1A2450"/>
          </a:solidFill>
          <a:ln w="12700">
            <a:solidFill>
              <a:srgbClr val="212C5C"/>
            </a:solidFill>
            <a:prstDash val="solid"/>
          </a:ln>
        </p:spPr>
      </p:sp>
      <p:sp>
        <p:nvSpPr>
          <p:cNvPr id="24" name="Shape 22"/>
          <p:cNvSpPr/>
          <p:nvPr/>
        </p:nvSpPr>
        <p:spPr>
          <a:xfrm>
            <a:off x="9290304" y="2697480"/>
            <a:ext cx="457200" cy="457200"/>
          </a:xfrm>
          <a:prstGeom prst="ellipse">
            <a:avLst/>
          </a:prstGeom>
          <a:solidFill>
            <a:srgbClr val="F2B134"/>
          </a:solidFill>
          <a:ln w="12700">
            <a:solidFill>
              <a:srgbClr val="F2B134"/>
            </a:solidFill>
            <a:prstDash val="solid"/>
          </a:ln>
        </p:spPr>
      </p:sp>
      <p:sp>
        <p:nvSpPr>
          <p:cNvPr id="25" name="Text 23"/>
          <p:cNvSpPr txBox="1"/>
          <p:nvPr/>
        </p:nvSpPr>
        <p:spPr>
          <a:xfrm>
            <a:off x="9290304" y="2697480"/>
            <a:ext cx="457200" cy="457200"/>
          </a:xfrm>
          <a:prstGeom prst="rect">
            <a:avLst/>
          </a:prstGeom>
          <a:noFill/>
          <a:ln/>
        </p:spPr>
        <p:txBody>
          <a:bodyPr wrap="square" lIns="0" tIns="0" rIns="0" bIns="0" rtlCol="0" anchor="ctr"/>
          <a:lstStyle/>
          <a:p>
            <a:pPr algn="ctr" indent="0" marL="0">
              <a:buNone/>
            </a:pPr>
            <a:r>
              <a:rPr lang="en-US" sz="1600" b="1" dirty="0">
                <a:solidFill>
                  <a:srgbClr val="0E1631"/>
                </a:solidFill>
                <a:latin typeface="Cambria" pitchFamily="34" charset="0"/>
                <a:ea typeface="Cambria" pitchFamily="34" charset="-122"/>
                <a:cs typeface="Cambria" pitchFamily="34" charset="-120"/>
              </a:rPr>
              <a:t>4</a:t>
            </a:r>
            <a:endParaRPr lang="en-US" sz="1600" dirty="0"/>
          </a:p>
        </p:txBody>
      </p:sp>
      <p:sp>
        <p:nvSpPr>
          <p:cNvPr id="26" name="Text 24"/>
          <p:cNvSpPr txBox="1"/>
          <p:nvPr/>
        </p:nvSpPr>
        <p:spPr>
          <a:xfrm>
            <a:off x="9290304" y="3310128"/>
            <a:ext cx="2057400" cy="365760"/>
          </a:xfrm>
          <a:prstGeom prst="rect">
            <a:avLst/>
          </a:prstGeom>
          <a:noFill/>
          <a:ln/>
        </p:spPr>
        <p:txBody>
          <a:bodyPr wrap="square" lIns="0" tIns="0" rIns="0" bIns="0" rtlCol="0" anchor="ctr"/>
          <a:lstStyle/>
          <a:p>
            <a:pPr indent="0" marL="0">
              <a:buNone/>
            </a:pPr>
            <a:r>
              <a:rPr lang="en-US" sz="2000" b="1" dirty="0">
                <a:solidFill>
                  <a:srgbClr val="F2B134"/>
                </a:solidFill>
                <a:latin typeface="Cambria" pitchFamily="34" charset="0"/>
                <a:ea typeface="Cambria" pitchFamily="34" charset="-122"/>
                <a:cs typeface="Cambria" pitchFamily="34" charset="-120"/>
              </a:rPr>
              <a:t>Look</a:t>
            </a:r>
            <a:endParaRPr lang="en-US" sz="2000" dirty="0"/>
          </a:p>
        </p:txBody>
      </p:sp>
      <p:sp>
        <p:nvSpPr>
          <p:cNvPr id="27" name="Text 25"/>
          <p:cNvSpPr txBox="1"/>
          <p:nvPr/>
        </p:nvSpPr>
        <p:spPr>
          <a:xfrm>
            <a:off x="9290304" y="3703320"/>
            <a:ext cx="2057400" cy="914400"/>
          </a:xfrm>
          <a:prstGeom prst="rect">
            <a:avLst/>
          </a:prstGeom>
          <a:noFill/>
          <a:ln/>
        </p:spPr>
        <p:txBody>
          <a:bodyPr wrap="square" lIns="0" tIns="0" rIns="0" bIns="0" rtlCol="0" anchor="ctr"/>
          <a:lstStyle/>
          <a:p>
            <a:pPr indent="0" marL="0">
              <a:lnSpc>
                <a:spcPct val="110000"/>
              </a:lnSpc>
              <a:buNone/>
            </a:pPr>
            <a:r>
              <a:rPr lang="en-US" sz="1300" dirty="0">
                <a:solidFill>
                  <a:srgbClr val="DCE3F5"/>
                </a:solidFill>
                <a:latin typeface="Calibri" pitchFamily="34" charset="0"/>
                <a:ea typeface="Calibri" pitchFamily="34" charset="-122"/>
                <a:cs typeface="Calibri" pitchFamily="34" charset="-120"/>
              </a:rPr>
              <a:t>Histogram the photon energy spectrum. That's your design spec.</a:t>
            </a:r>
            <a:endParaRPr lang="en-US" sz="1300" dirty="0"/>
          </a:p>
        </p:txBody>
      </p:sp>
      <p:sp>
        <p:nvSpPr>
          <p:cNvPr id="28" name="Text 26"/>
          <p:cNvSpPr txBox="1"/>
          <p:nvPr/>
        </p:nvSpPr>
        <p:spPr>
          <a:xfrm>
            <a:off x="640080" y="5074920"/>
            <a:ext cx="10908792" cy="457200"/>
          </a:xfrm>
          <a:prstGeom prst="rect">
            <a:avLst/>
          </a:prstGeom>
          <a:noFill/>
          <a:ln/>
        </p:spPr>
        <p:txBody>
          <a:bodyPr wrap="square" lIns="0" tIns="0" rIns="0" bIns="0" rtlCol="0" anchor="ctr"/>
          <a:lstStyle/>
          <a:p>
            <a:pPr indent="0" marL="0">
              <a:buNone/>
            </a:pPr>
            <a:r>
              <a:rPr lang="en-US" sz="1400" i="1" dirty="0">
                <a:solidFill>
                  <a:srgbClr val="5BD1C4"/>
                </a:solidFill>
                <a:latin typeface="Calibri" pitchFamily="34" charset="0"/>
                <a:ea typeface="Calibri" pitchFamily="34" charset="-122"/>
                <a:cs typeface="Calibri" pitchFamily="34" charset="-120"/>
              </a:rPr>
              <a:t>Random variables, distributions, four-vectors, objects — all of it earning its keep on a real question.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631"/>
        </a:solidFill>
      </p:bgPr>
    </p:bg>
    <p:spTree>
      <p:nvGrpSpPr>
        <p:cNvPr id="1" name=""/>
        <p:cNvGrpSpPr/>
        <p:nvPr/>
      </p:nvGrpSpPr>
      <p:grpSpPr>
        <a:xfrm>
          <a:off x="0" y="0"/>
          <a:ext cx="0" cy="0"/>
          <a:chOff x="0" y="0"/>
          <a:chExt cx="0" cy="0"/>
        </a:xfrm>
      </p:grpSpPr>
      <p:sp>
        <p:nvSpPr>
          <p:cNvPr id="2" name="Shape 0"/>
          <p:cNvSpPr/>
          <p:nvPr/>
        </p:nvSpPr>
        <p:spPr>
          <a:xfrm>
            <a:off x="822960" y="1143000"/>
            <a:ext cx="548640" cy="548640"/>
          </a:xfrm>
          <a:prstGeom prst="ellipse">
            <a:avLst/>
          </a:prstGeom>
          <a:solidFill>
            <a:srgbClr val="F2B134"/>
          </a:solidFill>
          <a:ln w="12700">
            <a:solidFill>
              <a:srgbClr val="F2B134"/>
            </a:solidFill>
            <a:prstDash val="solid"/>
          </a:ln>
        </p:spPr>
      </p:sp>
      <p:sp>
        <p:nvSpPr>
          <p:cNvPr id="3" name="Text 1"/>
          <p:cNvSpPr txBox="1"/>
          <p:nvPr/>
        </p:nvSpPr>
        <p:spPr>
          <a:xfrm>
            <a:off x="822960" y="2057400"/>
            <a:ext cx="10241280" cy="2194560"/>
          </a:xfrm>
          <a:prstGeom prst="rect">
            <a:avLst/>
          </a:prstGeom>
          <a:noFill/>
          <a:ln/>
        </p:spPr>
        <p:txBody>
          <a:bodyPr wrap="square" lIns="0" tIns="0" rIns="0" bIns="0" rtlCol="0" anchor="ctr"/>
          <a:lstStyle/>
          <a:p>
            <a:pPr indent="0" marL="0">
              <a:lnSpc>
                <a:spcPct val="120000"/>
              </a:lnSpc>
              <a:buNone/>
            </a:pPr>
            <a:r>
              <a:rPr lang="en-US" sz="3200" b="1" dirty="0">
                <a:solidFill>
                  <a:srgbClr val="DCE3F5"/>
                </a:solidFill>
                <a:latin typeface="Cambria" pitchFamily="34" charset="0"/>
                <a:ea typeface="Cambria" pitchFamily="34" charset="-122"/>
                <a:cs typeface="Cambria" pitchFamily="34" charset="-120"/>
              </a:rPr>
              <a:t>Fields, gauge symmetries, the Higgs, and 19 measured numbers: a theoretical model that fits on a t-shirt and gets the 5% of the universe we understand right.</a:t>
            </a:r>
            <a:endParaRPr lang="en-US" sz="3200" dirty="0"/>
          </a:p>
        </p:txBody>
      </p:sp>
      <p:sp>
        <p:nvSpPr>
          <p:cNvPr id="4" name="Text 2"/>
          <p:cNvSpPr txBox="1"/>
          <p:nvPr/>
        </p:nvSpPr>
        <p:spPr>
          <a:xfrm>
            <a:off x="822960" y="4480560"/>
            <a:ext cx="10241280" cy="457200"/>
          </a:xfrm>
          <a:prstGeom prst="rect">
            <a:avLst/>
          </a:prstGeom>
          <a:noFill/>
          <a:ln/>
        </p:spPr>
        <p:txBody>
          <a:bodyPr wrap="square" lIns="0" tIns="0" rIns="0" bIns="0" rtlCol="0" anchor="ctr"/>
          <a:lstStyle/>
          <a:p>
            <a:pPr indent="0" marL="0">
              <a:buNone/>
            </a:pPr>
            <a:r>
              <a:rPr lang="en-US" sz="2000" dirty="0">
                <a:solidFill>
                  <a:srgbClr val="F2B134"/>
                </a:solidFill>
                <a:latin typeface="Calibri" pitchFamily="34" charset="0"/>
                <a:ea typeface="Calibri" pitchFamily="34" charset="-122"/>
                <a:cs typeface="Calibri" pitchFamily="34" charset="-120"/>
              </a:rPr>
              <a:t>To see what it predicts, simulate it. That's the rest of this lecture.</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0E1631"/>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300" b="1" spc="200" kern="0" dirty="0">
                <a:solidFill>
                  <a:srgbClr val="F2B134"/>
                </a:solidFill>
                <a:latin typeface="Calibri" pitchFamily="34" charset="0"/>
                <a:ea typeface="Calibri" pitchFamily="34" charset="-122"/>
                <a:cs typeface="Calibri" pitchFamily="34" charset="-120"/>
              </a:rPr>
              <a:t>WHAT THE SHIRT DOESN'T SHOW</a:t>
            </a:r>
            <a:endParaRPr lang="en-US" sz="13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600" b="1" dirty="0">
                <a:solidFill>
                  <a:srgbClr val="DCE3F5"/>
                </a:solidFill>
                <a:latin typeface="Cambria" pitchFamily="34" charset="0"/>
                <a:ea typeface="Cambria" pitchFamily="34" charset="-122"/>
                <a:cs typeface="Cambria" pitchFamily="34" charset="-120"/>
              </a:rPr>
              <a:t>19 numbers you have to measure</a:t>
            </a:r>
            <a:endParaRPr lang="en-US" sz="3600" dirty="0"/>
          </a:p>
        </p:txBody>
      </p:sp>
      <p:sp>
        <p:nvSpPr>
          <p:cNvPr id="4" name="Shape 2"/>
          <p:cNvSpPr/>
          <p:nvPr/>
        </p:nvSpPr>
        <p:spPr>
          <a:xfrm>
            <a:off x="640080" y="1828800"/>
            <a:ext cx="5257800" cy="3017520"/>
          </a:xfrm>
          <a:prstGeom prst="roundRect">
            <a:avLst>
              <a:gd name="adj" fmla="val 3030"/>
            </a:avLst>
          </a:prstGeom>
          <a:solidFill>
            <a:srgbClr val="1A2450"/>
          </a:solidFill>
          <a:ln w="12700">
            <a:solidFill>
              <a:srgbClr val="212C5C"/>
            </a:solidFill>
            <a:prstDash val="solid"/>
          </a:ln>
        </p:spPr>
      </p:sp>
      <p:sp>
        <p:nvSpPr>
          <p:cNvPr id="5" name="Text 3"/>
          <p:cNvSpPr txBox="1"/>
          <p:nvPr/>
        </p:nvSpPr>
        <p:spPr>
          <a:xfrm>
            <a:off x="640080" y="2194560"/>
            <a:ext cx="5257800" cy="914400"/>
          </a:xfrm>
          <a:prstGeom prst="rect">
            <a:avLst/>
          </a:prstGeom>
          <a:noFill/>
          <a:ln/>
        </p:spPr>
        <p:txBody>
          <a:bodyPr wrap="square" lIns="0" tIns="0" rIns="0" bIns="0" rtlCol="0" anchor="ctr"/>
          <a:lstStyle/>
          <a:p>
            <a:pPr algn="ctr" indent="0" marL="0">
              <a:buNone/>
            </a:pPr>
            <a:r>
              <a:rPr lang="en-US" sz="5400" b="1" dirty="0">
                <a:solidFill>
                  <a:srgbClr val="DCE3F5"/>
                </a:solidFill>
                <a:latin typeface="Cambria" pitchFamily="34" charset="0"/>
                <a:ea typeface="Cambria" pitchFamily="34" charset="-122"/>
                <a:cs typeface="Cambria" pitchFamily="34" charset="-120"/>
              </a:rPr>
              <a:t>19</a:t>
            </a:r>
            <a:endParaRPr lang="en-US" sz="5400" dirty="0"/>
          </a:p>
        </p:txBody>
      </p:sp>
      <p:sp>
        <p:nvSpPr>
          <p:cNvPr id="6" name="Text 4"/>
          <p:cNvSpPr txBox="1"/>
          <p:nvPr/>
        </p:nvSpPr>
        <p:spPr>
          <a:xfrm>
            <a:off x="640080" y="3154680"/>
            <a:ext cx="5257800" cy="365760"/>
          </a:xfrm>
          <a:prstGeom prst="rect">
            <a:avLst/>
          </a:prstGeom>
          <a:noFill/>
          <a:ln/>
        </p:spPr>
        <p:txBody>
          <a:bodyPr wrap="square" lIns="0" tIns="0" rIns="0" bIns="0" rtlCol="0" anchor="ctr"/>
          <a:lstStyle/>
          <a:p>
            <a:pPr algn="ctr" indent="0" marL="0">
              <a:buNone/>
            </a:pPr>
            <a:r>
              <a:rPr lang="en-US" sz="1700" b="1" spc="100" kern="0" dirty="0">
                <a:solidFill>
                  <a:srgbClr val="F2B134"/>
                </a:solidFill>
                <a:latin typeface="Calibri" pitchFamily="34" charset="0"/>
                <a:ea typeface="Calibri" pitchFamily="34" charset="-122"/>
                <a:cs typeface="Calibri" pitchFamily="34" charset="-120"/>
              </a:rPr>
              <a:t>free parameters</a:t>
            </a:r>
            <a:endParaRPr lang="en-US" sz="1700" dirty="0"/>
          </a:p>
        </p:txBody>
      </p:sp>
      <p:sp>
        <p:nvSpPr>
          <p:cNvPr id="7" name="Text 5"/>
          <p:cNvSpPr txBox="1"/>
          <p:nvPr/>
        </p:nvSpPr>
        <p:spPr>
          <a:xfrm>
            <a:off x="1051560" y="3703320"/>
            <a:ext cx="4434840" cy="822960"/>
          </a:xfrm>
          <a:prstGeom prst="rect">
            <a:avLst/>
          </a:prstGeom>
          <a:noFill/>
          <a:ln/>
        </p:spPr>
        <p:txBody>
          <a:bodyPr wrap="square" lIns="0" tIns="0" rIns="0" bIns="0" rtlCol="0" anchor="ctr"/>
          <a:lstStyle/>
          <a:p>
            <a:pPr algn="ctr" indent="0" marL="0">
              <a:buNone/>
            </a:pPr>
            <a:r>
              <a:rPr lang="en-US" sz="1350" dirty="0">
                <a:solidFill>
                  <a:srgbClr val="94A3C8"/>
                </a:solidFill>
                <a:latin typeface="Calibri" pitchFamily="34" charset="0"/>
                <a:ea typeface="Calibri" pitchFamily="34" charset="-122"/>
                <a:cs typeface="Calibri" pitchFamily="34" charset="-120"/>
              </a:rPr>
              <a:t>The theory can't predict them. Every one had to be measured.</a:t>
            </a:r>
            <a:endParaRPr lang="en-US" sz="1350" dirty="0"/>
          </a:p>
        </p:txBody>
      </p:sp>
      <p:sp>
        <p:nvSpPr>
          <p:cNvPr id="8" name="Text 6"/>
          <p:cNvSpPr txBox="1"/>
          <p:nvPr/>
        </p:nvSpPr>
        <p:spPr>
          <a:xfrm>
            <a:off x="6400800" y="2057400"/>
            <a:ext cx="5120640" cy="2651760"/>
          </a:xfrm>
          <a:prstGeom prst="rect">
            <a:avLst/>
          </a:prstGeom>
          <a:noFill/>
          <a:ln/>
        </p:spPr>
        <p:txBody>
          <a:bodyPr wrap="square" lIns="0" tIns="0" rIns="0" bIns="0" rtlCol="0" anchor="ctr"/>
          <a:lstStyle/>
          <a:p>
            <a:pPr indent="0" marL="0">
              <a:lnSpc>
                <a:spcPct val="115000"/>
              </a:lnSpc>
              <a:buNone/>
            </a:pPr>
            <a:r>
              <a:rPr lang="en-US" sz="1600" dirty="0">
                <a:solidFill>
                  <a:srgbClr val="DCE3F5"/>
                </a:solidFill>
                <a:latin typeface="Calibri" pitchFamily="34" charset="0"/>
                <a:ea typeface="Calibri" pitchFamily="34" charset="-122"/>
                <a:cs typeface="Calibri" pitchFamily="34" charset="-120"/>
              </a:rPr>
              <a:t>6  quark masses</a:t>
            </a:r>
          </a:p>
          <a:p>
            <a:pPr indent="0" marL="0">
              <a:lnSpc>
                <a:spcPct val="115000"/>
              </a:lnSpc>
              <a:buNone/>
            </a:pPr>
            <a:r>
              <a:rPr lang="en-US" sz="1600" dirty="0">
                <a:solidFill>
                  <a:srgbClr val="DCE3F5"/>
                </a:solidFill>
                <a:latin typeface="Calibri" pitchFamily="34" charset="0"/>
                <a:ea typeface="Calibri" pitchFamily="34" charset="-122"/>
                <a:cs typeface="Calibri" pitchFamily="34" charset="-120"/>
              </a:rPr>
              <a:t>3  charged-lepton masses</a:t>
            </a:r>
          </a:p>
          <a:p>
            <a:pPr indent="0" marL="0">
              <a:lnSpc>
                <a:spcPct val="115000"/>
              </a:lnSpc>
              <a:buNone/>
            </a:pPr>
            <a:r>
              <a:rPr lang="en-US" sz="1600" dirty="0">
                <a:solidFill>
                  <a:srgbClr val="DCE3F5"/>
                </a:solidFill>
                <a:latin typeface="Calibri" pitchFamily="34" charset="0"/>
                <a:ea typeface="Calibri" pitchFamily="34" charset="-122"/>
                <a:cs typeface="Calibri" pitchFamily="34" charset="-120"/>
              </a:rPr>
              <a:t>3  force strengths</a:t>
            </a:r>
          </a:p>
          <a:p>
            <a:pPr indent="0" marL="0">
              <a:lnSpc>
                <a:spcPct val="115000"/>
              </a:lnSpc>
              <a:buNone/>
            </a:pPr>
            <a:r>
              <a:rPr lang="en-US" sz="1600" dirty="0">
                <a:solidFill>
                  <a:srgbClr val="DCE3F5"/>
                </a:solidFill>
                <a:latin typeface="Calibri" pitchFamily="34" charset="0"/>
                <a:ea typeface="Calibri" pitchFamily="34" charset="-122"/>
                <a:cs typeface="Calibri" pitchFamily="34" charset="-120"/>
              </a:rPr>
              <a:t>4  quark-mixing (CKM) parameters</a:t>
            </a:r>
          </a:p>
          <a:p>
            <a:pPr indent="0" marL="0">
              <a:lnSpc>
                <a:spcPct val="115000"/>
              </a:lnSpc>
              <a:buNone/>
            </a:pPr>
            <a:r>
              <a:rPr lang="en-US" sz="1600" dirty="0">
                <a:solidFill>
                  <a:srgbClr val="DCE3F5"/>
                </a:solidFill>
                <a:latin typeface="Calibri" pitchFamily="34" charset="0"/>
                <a:ea typeface="Calibri" pitchFamily="34" charset="-122"/>
                <a:cs typeface="Calibri" pitchFamily="34" charset="-120"/>
              </a:rPr>
              <a:t>2  Higgs: background value and mass</a:t>
            </a:r>
          </a:p>
          <a:p>
            <a:pPr indent="0" marL="0">
              <a:lnSpc>
                <a:spcPct val="115000"/>
              </a:lnSpc>
              <a:buNone/>
            </a:pPr>
            <a:r>
              <a:rPr lang="en-US" sz="1600" dirty="0">
                <a:solidFill>
                  <a:srgbClr val="DCE3F5"/>
                </a:solidFill>
                <a:latin typeface="Calibri" pitchFamily="34" charset="0"/>
                <a:ea typeface="Calibri" pitchFamily="34" charset="-122"/>
                <a:cs typeface="Calibri" pitchFamily="34" charset="-120"/>
              </a:rPr>
              <a:t>1  strong-force vacuum angle</a:t>
            </a:r>
          </a:p>
          <a:p>
            <a:pPr indent="0" marL="0">
              <a:lnSpc>
                <a:spcPct val="115000"/>
              </a:lnSpc>
              <a:buNone/>
            </a:pPr>
            <a:endParaRPr lang="en-US" sz="1600" dirty="0"/>
          </a:p>
          <a:p>
            <a:pPr indent="0" marL="0">
              <a:lnSpc>
                <a:spcPct val="115000"/>
              </a:lnSpc>
              <a:buNone/>
            </a:pPr>
            <a:r>
              <a:rPr i="1" lang="en-US" sz="1600" dirty="0">
                <a:solidFill>
                  <a:srgbClr val="F2B134"/>
                </a:solidFill>
                <a:latin typeface="Calibri" pitchFamily="34" charset="0"/>
                <a:ea typeface="Calibri" pitchFamily="34" charset="-122"/>
                <a:cs typeface="Calibri" pitchFamily="34" charset="-120"/>
              </a:rPr>
              <a:t>The shirt is the model. The 19 numbers are its fitted parameters.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0E1631"/>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300" b="1" spc="200" kern="0" dirty="0">
                <a:solidFill>
                  <a:srgbClr val="F2B134"/>
                </a:solidFill>
                <a:latin typeface="Calibri" pitchFamily="34" charset="0"/>
                <a:ea typeface="Calibri" pitchFamily="34" charset="-122"/>
                <a:cs typeface="Calibri" pitchFamily="34" charset="-120"/>
              </a:rPr>
              <a:t>HOW GOOD IS IT?</a:t>
            </a:r>
            <a:endParaRPr lang="en-US" sz="13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600" b="1" dirty="0">
                <a:solidFill>
                  <a:srgbClr val="DCE3F5"/>
                </a:solidFill>
                <a:latin typeface="Cambria" pitchFamily="34" charset="0"/>
                <a:ea typeface="Cambria" pitchFamily="34" charset="-122"/>
                <a:cs typeface="Cambria" pitchFamily="34" charset="-120"/>
              </a:rPr>
              <a:t>Right about 5% of the universe</a:t>
            </a:r>
            <a:endParaRPr lang="en-US" sz="3600" dirty="0"/>
          </a:p>
        </p:txBody>
      </p:sp>
      <p:sp>
        <p:nvSpPr>
          <p:cNvPr id="4" name="Shape 2"/>
          <p:cNvSpPr/>
          <p:nvPr/>
        </p:nvSpPr>
        <p:spPr>
          <a:xfrm>
            <a:off x="640080" y="1828800"/>
            <a:ext cx="5257800" cy="3017520"/>
          </a:xfrm>
          <a:prstGeom prst="roundRect">
            <a:avLst>
              <a:gd name="adj" fmla="val 3030"/>
            </a:avLst>
          </a:prstGeom>
          <a:solidFill>
            <a:srgbClr val="1A2450"/>
          </a:solidFill>
          <a:ln w="12700">
            <a:solidFill>
              <a:srgbClr val="212C5C"/>
            </a:solidFill>
            <a:prstDash val="solid"/>
          </a:ln>
        </p:spPr>
      </p:sp>
      <p:sp>
        <p:nvSpPr>
          <p:cNvPr id="5" name="Text 3"/>
          <p:cNvSpPr txBox="1"/>
          <p:nvPr/>
        </p:nvSpPr>
        <p:spPr>
          <a:xfrm>
            <a:off x="640080" y="2194560"/>
            <a:ext cx="5257800" cy="914400"/>
          </a:xfrm>
          <a:prstGeom prst="rect">
            <a:avLst/>
          </a:prstGeom>
          <a:noFill/>
          <a:ln/>
        </p:spPr>
        <p:txBody>
          <a:bodyPr wrap="square" lIns="0" tIns="0" rIns="0" bIns="0" rtlCol="0" anchor="ctr"/>
          <a:lstStyle/>
          <a:p>
            <a:pPr algn="ctr" indent="0" marL="0">
              <a:buNone/>
            </a:pPr>
            <a:r>
              <a:rPr lang="en-US" sz="5400" b="1" dirty="0">
                <a:solidFill>
                  <a:srgbClr val="DCE3F5"/>
                </a:solidFill>
                <a:latin typeface="Cambria" pitchFamily="34" charset="0"/>
                <a:ea typeface="Cambria" pitchFamily="34" charset="-122"/>
                <a:cs typeface="Cambria" pitchFamily="34" charset="-120"/>
              </a:rPr>
              <a:t>5%</a:t>
            </a:r>
            <a:endParaRPr lang="en-US" sz="5400" dirty="0"/>
          </a:p>
        </p:txBody>
      </p:sp>
      <p:sp>
        <p:nvSpPr>
          <p:cNvPr id="6" name="Text 4"/>
          <p:cNvSpPr txBox="1"/>
          <p:nvPr/>
        </p:nvSpPr>
        <p:spPr>
          <a:xfrm>
            <a:off x="640080" y="3154680"/>
            <a:ext cx="5257800" cy="365760"/>
          </a:xfrm>
          <a:prstGeom prst="rect">
            <a:avLst/>
          </a:prstGeom>
          <a:noFill/>
          <a:ln/>
        </p:spPr>
        <p:txBody>
          <a:bodyPr wrap="square" lIns="0" tIns="0" rIns="0" bIns="0" rtlCol="0" anchor="ctr"/>
          <a:lstStyle/>
          <a:p>
            <a:pPr algn="ctr" indent="0" marL="0">
              <a:buNone/>
            </a:pPr>
            <a:r>
              <a:rPr lang="en-US" sz="1700" b="1" spc="100" kern="0" dirty="0">
                <a:solidFill>
                  <a:srgbClr val="F2B134"/>
                </a:solidFill>
                <a:latin typeface="Calibri" pitchFamily="34" charset="0"/>
                <a:ea typeface="Calibri" pitchFamily="34" charset="-122"/>
                <a:cs typeface="Calibri" pitchFamily="34" charset="-120"/>
              </a:rPr>
              <a:t>ordinary matter</a:t>
            </a:r>
            <a:endParaRPr lang="en-US" sz="1700" dirty="0"/>
          </a:p>
        </p:txBody>
      </p:sp>
      <p:sp>
        <p:nvSpPr>
          <p:cNvPr id="7" name="Text 5"/>
          <p:cNvSpPr txBox="1"/>
          <p:nvPr/>
        </p:nvSpPr>
        <p:spPr>
          <a:xfrm>
            <a:off x="1051560" y="3703320"/>
            <a:ext cx="4434840" cy="822960"/>
          </a:xfrm>
          <a:prstGeom prst="rect">
            <a:avLst/>
          </a:prstGeom>
          <a:noFill/>
          <a:ln/>
        </p:spPr>
        <p:txBody>
          <a:bodyPr wrap="square" lIns="0" tIns="0" rIns="0" bIns="0" rtlCol="0" anchor="ctr"/>
          <a:lstStyle/>
          <a:p>
            <a:pPr algn="ctr" indent="0" marL="0">
              <a:buNone/>
            </a:pPr>
            <a:r>
              <a:rPr lang="en-US" sz="1350" dirty="0">
                <a:solidFill>
                  <a:srgbClr val="94A3C8"/>
                </a:solidFill>
                <a:latin typeface="Calibri" pitchFamily="34" charset="0"/>
                <a:ea typeface="Calibri" pitchFamily="34" charset="-122"/>
                <a:cs typeface="Calibri" pitchFamily="34" charset="-120"/>
              </a:rPr>
              <a:t>Everything the Standard Model describes: every atom, star, planet and person.</a:t>
            </a:r>
            <a:endParaRPr lang="en-US" sz="1350" dirty="0"/>
          </a:p>
        </p:txBody>
      </p:sp>
      <p:sp>
        <p:nvSpPr>
          <p:cNvPr id="8" name="Text 6"/>
          <p:cNvSpPr txBox="1"/>
          <p:nvPr/>
        </p:nvSpPr>
        <p:spPr>
          <a:xfrm>
            <a:off x="6400800" y="2057400"/>
            <a:ext cx="5120640" cy="2651760"/>
          </a:xfrm>
          <a:prstGeom prst="rect">
            <a:avLst/>
          </a:prstGeom>
          <a:noFill/>
          <a:ln/>
        </p:spPr>
        <p:txBody>
          <a:bodyPr wrap="square" lIns="0" tIns="0" rIns="0" bIns="0" rtlCol="0" anchor="ctr"/>
          <a:lstStyle/>
          <a:p>
            <a:pPr indent="0" marL="0">
              <a:lnSpc>
                <a:spcPct val="115000"/>
              </a:lnSpc>
              <a:buNone/>
            </a:pPr>
            <a:r>
              <a:rPr b="1" lang="en-US" sz="1600" dirty="0">
                <a:solidFill>
                  <a:srgbClr val="DCE3F5"/>
                </a:solidFill>
                <a:latin typeface="Calibri" pitchFamily="34" charset="0"/>
                <a:ea typeface="Calibri" pitchFamily="34" charset="-122"/>
                <a:cs typeface="Calibri" pitchFamily="34" charset="-120"/>
              </a:rPr>
              <a:t>With its 19 numbers measured, it gets every experiment on ordinary matter right, often to the limit of our precision.</a:t>
            </a:r>
          </a:p>
          <a:p>
            <a:pPr indent="0" marL="0">
              <a:lnSpc>
                <a:spcPct val="115000"/>
              </a:lnSpc>
              <a:buNone/>
            </a:pPr>
            <a:endParaRPr lang="en-US" sz="1600" dirty="0"/>
          </a:p>
          <a:p>
            <a:pPr indent="0" marL="0">
              <a:lnSpc>
                <a:spcPct val="115000"/>
              </a:lnSpc>
              <a:buNone/>
            </a:pPr>
            <a:r>
              <a:rPr lang="en-US" sz="1600" dirty="0">
                <a:solidFill>
                  <a:srgbClr val="DCE3F5"/>
                </a:solidFill>
                <a:latin typeface="Calibri" pitchFamily="34" charset="0"/>
                <a:ea typeface="Calibri" pitchFamily="34" charset="-122"/>
                <a:cs typeface="Calibri" pitchFamily="34" charset="-120"/>
              </a:rPr>
              <a:t>The rest is about 27% dark matter and 68% dark energy. We don't know what either one is.</a:t>
            </a:r>
          </a:p>
          <a:p>
            <a:pPr indent="0" marL="0">
              <a:lnSpc>
                <a:spcPct val="115000"/>
              </a:lnSpc>
              <a:buNone/>
            </a:pPr>
            <a:endParaRPr lang="en-US" sz="1600" dirty="0"/>
          </a:p>
          <a:p>
            <a:pPr indent="0" marL="0">
              <a:lnSpc>
                <a:spcPct val="115000"/>
              </a:lnSpc>
              <a:buNone/>
            </a:pPr>
            <a:r>
              <a:rPr lang="en-US" sz="1600" dirty="0">
                <a:solidFill>
                  <a:srgbClr val="DCE3F5"/>
                </a:solidFill>
                <a:latin typeface="Calibri" pitchFamily="34" charset="0"/>
                <a:ea typeface="Calibri" pitchFamily="34" charset="-122"/>
                <a:cs typeface="Calibri" pitchFamily="34" charset="-120"/>
              </a:rPr>
              <a:t>And gravity isn't in the Lagrangian at all.</a:t>
            </a:r>
          </a:p>
          <a:p>
            <a:pPr indent="0" marL="0">
              <a:lnSpc>
                <a:spcPct val="115000"/>
              </a:lnSpc>
              <a:buNone/>
            </a:pPr>
            <a:endParaRPr lang="en-US" sz="1600" dirty="0"/>
          </a:p>
          <a:p>
            <a:pPr indent="0" marL="0">
              <a:lnSpc>
                <a:spcPct val="115000"/>
              </a:lnSpc>
              <a:buNone/>
            </a:pPr>
            <a:r>
              <a:rPr i="1" lang="en-US" sz="1600" dirty="0">
                <a:solidFill>
                  <a:srgbClr val="F2B134"/>
                </a:solidFill>
                <a:latin typeface="Calibri" pitchFamily="34" charset="0"/>
                <a:ea typeface="Calibri" pitchFamily="34" charset="-122"/>
                <a:cs typeface="Calibri" pitchFamily="34" charset="-120"/>
              </a:rPr>
              <a:t>Complete for the 5% we understand. Silent about the rest.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
    <p:bg>
      <p:bgPr>
        <a:solidFill>
          <a:srgbClr val="0E1631"/>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300" b="1" spc="200" kern="0" dirty="0">
                <a:solidFill>
                  <a:srgbClr val="F2B134"/>
                </a:solidFill>
                <a:latin typeface="Calibri" pitchFamily="34" charset="0"/>
                <a:ea typeface="Calibri" pitchFamily="34" charset="-122"/>
                <a:cs typeface="Calibri" pitchFamily="34" charset="-120"/>
              </a:rPr>
              <a:t>THE HIGGS PROBLEM</a:t>
            </a:r>
            <a:endParaRPr lang="en-US" sz="13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600" b="1" dirty="0">
                <a:solidFill>
                  <a:srgbClr val="DCE3F5"/>
                </a:solidFill>
                <a:latin typeface="Cambria" pitchFamily="34" charset="0"/>
                <a:ea typeface="Cambria" pitchFamily="34" charset="-122"/>
                <a:cs typeface="Cambria" pitchFamily="34" charset="-120"/>
              </a:rPr>
              <a:t>A theory in hand. Now what?</a:t>
            </a:r>
            <a:endParaRPr lang="en-US" sz="3600" dirty="0"/>
          </a:p>
        </p:txBody>
      </p:sp>
      <p:sp>
        <p:nvSpPr>
          <p:cNvPr id="4" name="Text 2"/>
          <p:cNvSpPr txBox="1"/>
          <p:nvPr/>
        </p:nvSpPr>
        <p:spPr>
          <a:xfrm>
            <a:off x="640080" y="1737360"/>
            <a:ext cx="5806440" cy="2926080"/>
          </a:xfrm>
          <a:prstGeom prst="rect">
            <a:avLst/>
          </a:prstGeom>
          <a:noFill/>
          <a:ln/>
        </p:spPr>
        <p:txBody>
          <a:bodyPr wrap="square" lIns="0" tIns="0" rIns="0" bIns="0" rtlCol="0" anchor="ctr"/>
          <a:lstStyle/>
          <a:p>
            <a:pPr marL="342900" indent="-342900">
              <a:spcAft>
                <a:spcPts val="1400"/>
              </a:spcAft>
              <a:buSzPct val="100000"/>
              <a:buChar char="•"/>
            </a:pPr>
            <a:r>
              <a:rPr lang="en-US" sz="1550" dirty="0">
                <a:solidFill>
                  <a:srgbClr val="DCE3F5"/>
                </a:solidFill>
                <a:latin typeface="Calibri" pitchFamily="34" charset="0"/>
                <a:ea typeface="Calibri" pitchFamily="34" charset="-122"/>
                <a:cs typeface="Calibri" pitchFamily="34" charset="-120"/>
              </a:rPr>
              <a:t>Just after Higgs' paper: you want to find the Higgs boson.</a:t>
            </a:r>
          </a:p>
          <a:p>
            <a:pPr marL="342900" indent="-342900">
              <a:spcAft>
                <a:spcPts val="1400"/>
              </a:spcAft>
              <a:buSzPct val="100000"/>
              <a:buChar char="•"/>
            </a:pPr>
            <a:r>
              <a:rPr lang="en-US" sz="1550" dirty="0">
                <a:solidFill>
                  <a:srgbClr val="DCE3F5"/>
                </a:solidFill>
                <a:latin typeface="Calibri" pitchFamily="34" charset="0"/>
                <a:ea typeface="Calibri" pitchFamily="34" charset="-122"/>
                <a:cs typeface="Calibri" pitchFamily="34" charset="-120"/>
              </a:rPr>
              <a:t>It decays almost instantly, so you only see what it decays into, for example H → γγ.</a:t>
            </a:r>
          </a:p>
          <a:p>
            <a:pPr marL="342900" indent="-342900">
              <a:spcAft>
                <a:spcPts val="1400"/>
              </a:spcAft>
              <a:buSzPct val="100000"/>
              <a:buChar char="•"/>
            </a:pPr>
            <a:r>
              <a:rPr lang="en-US" sz="1550" dirty="0">
                <a:solidFill>
                  <a:srgbClr val="DCE3F5"/>
                </a:solidFill>
                <a:latin typeface="Calibri" pitchFamily="34" charset="0"/>
                <a:ea typeface="Calibri" pitchFamily="34" charset="-122"/>
                <a:cs typeface="Calibri" pitchFamily="34" charset="-120"/>
              </a:rPr>
              <a:t>To build the detector you must know: what photon energies does it have to handle?</a:t>
            </a:r>
          </a:p>
          <a:p>
            <a:pPr marL="342900" indent="-342900">
              <a:spcAft>
                <a:spcPts val="1400"/>
              </a:spcAft>
              <a:buSzPct val="100000"/>
              <a:buChar char="•"/>
            </a:pPr>
            <a:r>
              <a:rPr lang="en-US" sz="1550" dirty="0">
                <a:solidFill>
                  <a:srgbClr val="DCE3F5"/>
                </a:solidFill>
                <a:latin typeface="Calibri" pitchFamily="34" charset="0"/>
                <a:ea typeface="Calibri" pitchFamily="34" charset="-122"/>
                <a:cs typeface="Calibri" pitchFamily="34" charset="-120"/>
              </a:rPr>
              <a:t>The theory only gives probabilities. Each collision is one random outcome, so the answer is a distribution.</a:t>
            </a:r>
          </a:p>
        </p:txBody>
      </p:sp>
      <p:sp>
        <p:nvSpPr>
          <p:cNvPr id="5" name="Shape 3"/>
          <p:cNvSpPr/>
          <p:nvPr/>
        </p:nvSpPr>
        <p:spPr>
          <a:xfrm>
            <a:off x="6812280" y="1737360"/>
            <a:ext cx="4736592" cy="3063240"/>
          </a:xfrm>
          <a:prstGeom prst="roundRect">
            <a:avLst>
              <a:gd name="adj" fmla="val 2985"/>
            </a:avLst>
          </a:prstGeom>
          <a:solidFill>
            <a:srgbClr val="1A2450"/>
          </a:solidFill>
          <a:ln w="12700">
            <a:solidFill>
              <a:srgbClr val="212C5C"/>
            </a:solidFill>
            <a:prstDash val="solid"/>
          </a:ln>
        </p:spPr>
      </p:sp>
      <p:sp>
        <p:nvSpPr>
          <p:cNvPr id="6" name="Text 4"/>
          <p:cNvSpPr txBox="1"/>
          <p:nvPr/>
        </p:nvSpPr>
        <p:spPr>
          <a:xfrm>
            <a:off x="7086600" y="1965960"/>
            <a:ext cx="4206240" cy="274320"/>
          </a:xfrm>
          <a:prstGeom prst="rect">
            <a:avLst/>
          </a:prstGeom>
          <a:noFill/>
          <a:ln/>
        </p:spPr>
        <p:txBody>
          <a:bodyPr wrap="square" lIns="0" tIns="0" rIns="0" bIns="0" rtlCol="0" anchor="ctr"/>
          <a:lstStyle/>
          <a:p>
            <a:pPr algn="ctr" indent="0" marL="0">
              <a:buNone/>
            </a:pPr>
            <a:r>
              <a:rPr lang="en-US" sz="1150" b="1" spc="200" kern="0" dirty="0">
                <a:solidFill>
                  <a:srgbClr val="94A3C8"/>
                </a:solidFill>
                <a:latin typeface="Calibri" pitchFamily="34" charset="0"/>
                <a:ea typeface="Calibri" pitchFamily="34" charset="-122"/>
                <a:cs typeface="Calibri" pitchFamily="34" charset="-120"/>
              </a:rPr>
              <a:t>ONE THEORY IN</a:t>
            </a:r>
            <a:endParaRPr lang="en-US" sz="1150" dirty="0"/>
          </a:p>
        </p:txBody>
      </p:sp>
      <p:sp>
        <p:nvSpPr>
          <p:cNvPr id="7" name="Text 5"/>
          <p:cNvSpPr txBox="1"/>
          <p:nvPr/>
        </p:nvSpPr>
        <p:spPr>
          <a:xfrm>
            <a:off x="7086600" y="2240280"/>
            <a:ext cx="4206240" cy="868680"/>
          </a:xfrm>
          <a:prstGeom prst="rect">
            <a:avLst/>
          </a:prstGeom>
          <a:noFill/>
          <a:ln/>
        </p:spPr>
        <p:txBody>
          <a:bodyPr wrap="square" lIns="0" tIns="0" rIns="0" bIns="0" rtlCol="0" anchor="ctr"/>
          <a:lstStyle/>
          <a:p>
            <a:pPr algn="ctr" indent="0" marL="0">
              <a:buNone/>
            </a:pPr>
            <a:r>
              <a:rPr lang="en-US" sz="6000" b="1" dirty="0">
                <a:solidFill>
                  <a:srgbClr val="F2B134"/>
                </a:solidFill>
                <a:latin typeface="Cambria" pitchFamily="34" charset="0"/>
                <a:ea typeface="Cambria" pitchFamily="34" charset="-122"/>
                <a:cs typeface="Cambria" pitchFamily="34" charset="-120"/>
              </a:rPr>
              <a:t>ℒ</a:t>
            </a:r>
            <a:endParaRPr lang="en-US" sz="6000" dirty="0"/>
          </a:p>
        </p:txBody>
      </p:sp>
      <p:sp>
        <p:nvSpPr>
          <p:cNvPr id="8" name="Text 6"/>
          <p:cNvSpPr txBox="1"/>
          <p:nvPr/>
        </p:nvSpPr>
        <p:spPr>
          <a:xfrm>
            <a:off x="7086600" y="3127248"/>
            <a:ext cx="4206240" cy="320040"/>
          </a:xfrm>
          <a:prstGeom prst="rect">
            <a:avLst/>
          </a:prstGeom>
          <a:noFill/>
          <a:ln/>
        </p:spPr>
        <p:txBody>
          <a:bodyPr wrap="square" lIns="0" tIns="0" rIns="0" bIns="0" rtlCol="0" anchor="ctr"/>
          <a:lstStyle/>
          <a:p>
            <a:pPr algn="ctr" indent="0" marL="0">
              <a:buNone/>
            </a:pPr>
            <a:r>
              <a:rPr lang="en-US" sz="2000" dirty="0">
                <a:solidFill>
                  <a:srgbClr val="94A3C8"/>
                </a:solidFill>
                <a:latin typeface="Calibri" pitchFamily="34" charset="0"/>
                <a:ea typeface="Calibri" pitchFamily="34" charset="-122"/>
                <a:cs typeface="Calibri" pitchFamily="34" charset="-120"/>
              </a:rPr>
              <a:t>↓</a:t>
            </a:r>
            <a:endParaRPr lang="en-US" sz="2000" dirty="0"/>
          </a:p>
        </p:txBody>
      </p:sp>
      <p:sp>
        <p:nvSpPr>
          <p:cNvPr id="9" name="Text 7"/>
          <p:cNvSpPr txBox="1"/>
          <p:nvPr/>
        </p:nvSpPr>
        <p:spPr>
          <a:xfrm>
            <a:off x="7086600" y="3474720"/>
            <a:ext cx="4206240" cy="274320"/>
          </a:xfrm>
          <a:prstGeom prst="rect">
            <a:avLst/>
          </a:prstGeom>
          <a:noFill/>
          <a:ln/>
        </p:spPr>
        <p:txBody>
          <a:bodyPr wrap="square" lIns="0" tIns="0" rIns="0" bIns="0" rtlCol="0" anchor="ctr"/>
          <a:lstStyle/>
          <a:p>
            <a:pPr algn="ctr" indent="0" marL="0">
              <a:buNone/>
            </a:pPr>
            <a:r>
              <a:rPr lang="en-US" sz="1150" b="1" spc="200" kern="0" dirty="0">
                <a:solidFill>
                  <a:srgbClr val="94A3C8"/>
                </a:solidFill>
                <a:latin typeface="Calibri" pitchFamily="34" charset="0"/>
                <a:ea typeface="Calibri" pitchFamily="34" charset="-122"/>
                <a:cs typeface="Calibri" pitchFamily="34" charset="-120"/>
              </a:rPr>
              <a:t>MANY RANDOM EVENTS OUT</a:t>
            </a:r>
            <a:endParaRPr lang="en-US" sz="1150" dirty="0"/>
          </a:p>
        </p:txBody>
      </p:sp>
      <p:sp>
        <p:nvSpPr>
          <p:cNvPr id="10" name="Text 8"/>
          <p:cNvSpPr txBox="1"/>
          <p:nvPr/>
        </p:nvSpPr>
        <p:spPr>
          <a:xfrm>
            <a:off x="7086600" y="3794760"/>
            <a:ext cx="4206240" cy="777240"/>
          </a:xfrm>
          <a:prstGeom prst="rect">
            <a:avLst/>
          </a:prstGeom>
          <a:noFill/>
          <a:ln/>
        </p:spPr>
        <p:txBody>
          <a:bodyPr wrap="square" lIns="0" tIns="0" rIns="0" bIns="0" rtlCol="0" anchor="ctr"/>
          <a:lstStyle/>
          <a:p>
            <a:pPr algn="ctr" indent="0" marL="0">
              <a:lnSpc>
                <a:spcPct val="115000"/>
              </a:lnSpc>
              <a:buNone/>
            </a:pPr>
            <a:r>
              <a:rPr lang="en-US" sz="1350" dirty="0">
                <a:solidFill>
                  <a:srgbClr val="5BD1C4"/>
                </a:solidFill>
                <a:latin typeface="Calibri" pitchFamily="34" charset="0"/>
                <a:ea typeface="Calibri" pitchFamily="34" charset="-122"/>
                <a:cs typeface="Calibri" pitchFamily="34" charset="-120"/>
              </a:rPr>
              <a:t>draw  ·  decay  ·  boost  ·  histogram</a:t>
            </a:r>
            <a:endParaRPr lang="en-US" sz="1350" dirty="0"/>
          </a:p>
        </p:txBody>
      </p:sp>
      <p:sp>
        <p:nvSpPr>
          <p:cNvPr id="11" name="Text 9"/>
          <p:cNvSpPr txBox="1"/>
          <p:nvPr/>
        </p:nvSpPr>
        <p:spPr>
          <a:xfrm>
            <a:off x="640080" y="5074920"/>
            <a:ext cx="10908792" cy="457200"/>
          </a:xfrm>
          <a:prstGeom prst="rect">
            <a:avLst/>
          </a:prstGeom>
          <a:noFill/>
          <a:ln/>
        </p:spPr>
        <p:txBody>
          <a:bodyPr wrap="square" lIns="0" tIns="0" rIns="0" bIns="0" rtlCol="0" anchor="ctr"/>
          <a:lstStyle/>
          <a:p>
            <a:pPr indent="0" marL="0">
              <a:buNone/>
            </a:pPr>
            <a:r>
              <a:rPr lang="en-US" sz="1900" b="1" i="1" dirty="0">
                <a:solidFill>
                  <a:srgbClr val="F2B134"/>
                </a:solidFill>
                <a:latin typeface="Cambria" pitchFamily="34" charset="0"/>
                <a:ea typeface="Cambria" pitchFamily="34" charset="-122"/>
                <a:cs typeface="Cambria" pitchFamily="34" charset="-120"/>
              </a:rPr>
              <a:t>Monte Carlo simulation: generate events by the theory's rules, then look at what comes out.</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the T-Shirt</dc:title>
  <dc:subject>PptxGenJS Presentation</dc:subject>
  <dc:creator>Standard Model lecture</dc:creator>
  <cp:lastModifiedBy>Standard Model lecture</cp:lastModifiedBy>
  <cp:revision>1</cp:revision>
  <dcterms:created xsi:type="dcterms:W3CDTF">2026-09-16T17:44:16Z</dcterms:created>
  <dcterms:modified xsi:type="dcterms:W3CDTF">2026-09-16T17:44:16Z</dcterms:modified>
</cp:coreProperties>
</file>